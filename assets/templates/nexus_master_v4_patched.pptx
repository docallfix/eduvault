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 type="screen16x9"/>
  <p:notesSz cx="6858000" cy="12192000"/>
  <p:defaultTextStyle>
    <a:defPPr>
      <a:defRPr lang="it-IT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100" Type="http://schemas.openxmlformats.org/officeDocument/2006/relationships/image" Target="../media/cfp_logo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1">
  <p:cSld name="N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0" y="4500000"/>
            <a:ext cx="1980000" cy="1980000"/>
          </a:xfrm>
          <a:prstGeom prst="ellipse">
            <a:avLst/>
          </a:prstGeom>
          <a:solidFill>
            <a:srgbClr val="769E2E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title"/>
          <p:cNvSpPr>
            <a:spLocks noGrp="1"/>
          </p:cNvSpPr>
          <p:nvPr>
            <p:ph type="title"/>
          </p:nvPr>
        </p:nvSpPr>
        <p:spPr>
          <a:xfrm>
            <a:off x="720000" y="2340000"/>
            <a:ext cx="10753200" cy="12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4400" b="1" dirty="0">
                <a:solidFill>
                  <a:srgbClr val="1F1F1F"/>
                </a:solidFill>
                <a:latin typeface="Inter"/>
                <a:cs typeface="Inter"/>
              </a:rPr>
              <a:t>Titolo del corso</a:t>
            </a:r>
          </a:p>
        </p:txBody>
      </p:sp>
      <p:sp>
        <p:nvSpPr>
          <p:cNvPr id="103" name="nx_subtitle"/>
          <p:cNvSpPr>
            <a:spLocks noGrp="1"/>
          </p:cNvSpPr>
          <p:nvPr>
            <p:ph type="subTitle" idx="1"/>
          </p:nvPr>
        </p:nvSpPr>
        <p:spPr>
          <a:xfrm>
            <a:off x="720000" y="3708000"/>
            <a:ext cx="107532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marL="0" indent="0">
              <a:buNone/>
            </a:pPr>
            <a:r>
              <a:rPr lang="it-IT" sz="2200" dirty="0">
                <a:solidFill>
                  <a:srgbClr val="C82E6E"/>
                </a:solidFill>
                <a:latin typeface="Inter"/>
                <a:cs typeface="Inter"/>
              </a:rPr>
              <a:t>Sottotitolo</a:t>
            </a:r>
          </a:p>
        </p:txBody>
      </p:sp>
      <p:sp>
        <p:nvSpPr>
          <p:cNvPr id="104" name="nx_dot1"/>
          <p:cNvSpPr/>
          <p:nvPr/>
        </p:nvSpPr>
        <p:spPr>
          <a:xfrm>
            <a:off x="5652000" y="5400000"/>
            <a:ext cx="108000" cy="108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5" name="nx_dot2"/>
          <p:cNvSpPr/>
          <p:nvPr/>
        </p:nvSpPr>
        <p:spPr>
          <a:xfrm>
            <a:off x="5940000" y="5400000"/>
            <a:ext cx="108000" cy="108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6" name="nx_dot3"/>
          <p:cNvSpPr/>
          <p:nvPr/>
        </p:nvSpPr>
        <p:spPr>
          <a:xfrm>
            <a:off x="6228000" y="5400000"/>
            <a:ext cx="108000" cy="108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1">
  <p:cSld name="NX MODULE_O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module_num"/>
          <p:cNvSpPr>
            <a:spLocks noGrp="1"/>
          </p:cNvSpPr>
          <p:nvPr>
            <p:ph type="title"/>
          </p:nvPr>
        </p:nvSpPr>
        <p:spPr>
          <a:xfrm>
            <a:off x="720000" y="1800000"/>
            <a:ext cx="10753200" cy="144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7200" b="1" dirty="0">
                <a:solidFill>
                  <a:srgbClr val="C82E6E"/>
                </a:solidFill>
                <a:latin typeface="Inter"/>
                <a:cs typeface="Inter"/>
              </a:rPr>
              <a:t>MODULO N</a:t>
            </a:r>
          </a:p>
        </p:txBody>
      </p:sp>
      <p:sp>
        <p:nvSpPr>
          <p:cNvPr id="202" name="nx_module_underline"/>
          <p:cNvSpPr/>
          <p:nvPr/>
        </p:nvSpPr>
        <p:spPr>
          <a:xfrm>
            <a:off x="4654800" y="3420000"/>
            <a:ext cx="2880000" cy="108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module_title"/>
          <p:cNvSpPr>
            <a:spLocks noGrp="1"/>
          </p:cNvSpPr>
          <p:nvPr>
            <p:ph type="body" idx="1"/>
          </p:nvPr>
        </p:nvSpPr>
        <p:spPr>
          <a:xfrm>
            <a:off x="720000" y="3780000"/>
            <a:ext cx="107532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marL="0" indent="0">
              <a:buNone/>
            </a:pPr>
            <a:r>
              <a:rPr lang="it-IT" sz="3200" dirty="0">
                <a:solidFill>
                  <a:srgbClr val="1F1F1F"/>
                </a:solidFill>
                <a:latin typeface="Inter"/>
                <a:cs typeface="Inter"/>
              </a:rPr>
              <a:t>Titolo del modulo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800" b="1" dirty="0">
                <a:solidFill>
                  <a:srgbClr val="1F1F1F"/>
                </a:solidFill>
                <a:latin typeface="Inter"/>
                <a:cs typeface="Inter"/>
              </a:rPr>
              <a:t>Titolo della slide</a:t>
            </a:r>
          </a:p>
        </p:txBody>
      </p:sp>
      <p:sp>
        <p:nvSpPr>
          <p:cNvPr id="301" name="nx_body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11160000" cy="46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>
            <a:lvl1pPr marL="228600" indent="-228600">
              <a:spcBef>
                <a:spcPts val="800"/>
              </a:spcBef>
              <a:buFont typeface="Arial"/>
              <a:buChar char="•"/>
            </a:lvl1pPr>
          </a:lstStyle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Primo punto del contenuto formativo.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Secondo punto chiave da ricordare.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Terzo concetto importante.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Quarto elemento di approfondimento.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Quinto punto di sintesi.</a:t>
            </a:r>
          </a:p>
        </p:txBody>
      </p:sp>
      <p:sp>
        <p:nvSpPr>
          <p:cNvPr id="39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91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92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393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CONTEN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800" b="1" dirty="0">
                <a:solidFill>
                  <a:srgbClr val="1F1F1F"/>
                </a:solidFill>
                <a:latin typeface="Inter"/>
                <a:cs typeface="Inter"/>
              </a:rPr>
              <a:t>Titolo della slide</a:t>
            </a:r>
          </a:p>
        </p:txBody>
      </p:sp>
      <p:sp>
        <p:nvSpPr>
          <p:cNvPr id="401" name="nx_body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6120000" cy="46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>
            <a:lvl1pPr marL="228600" indent="-228600">
              <a:spcBef>
                <a:spcPts val="800"/>
              </a:spcBef>
              <a:buFont typeface="Arial"/>
              <a:buChar char="•"/>
            </a:lvl1pPr>
          </a:lstStyle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Primo punto descrittivo.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Secondo punto descrittivo.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Terzo punto descrittivo.</a:t>
            </a:r>
          </a:p>
          <a:p>
            <a:pPr algn="l" marL="285750" indent="-285750">
              <a:lnSpc>
                <a:spcPct val="130000"/>
              </a:lnSpc>
              <a:spcBef>
                <a:spcPts val="6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Quarto punto descrittivo.</a:t>
            </a:r>
          </a:p>
        </p:txBody>
      </p:sp>
      <p:sp>
        <p:nvSpPr>
          <p:cNvPr id="402" name="nx_image_box"/>
          <p:cNvSpPr>
            <a:spLocks noGrp="1"/>
          </p:cNvSpPr>
          <p:nvPr>
            <p:ph type="pic" idx="2"/>
          </p:nvPr>
        </p:nvSpPr>
        <p:spPr>
          <a:xfrm>
            <a:off x="7020000" y="1440000"/>
            <a:ext cx="4500000" cy="3960000"/>
          </a:xfrm>
          <a:prstGeom prst="rect">
            <a:avLst/>
          </a:prstGeom>
          <a:solidFill>
            <a:srgbClr val="FDE7EE">
              <a:alpha val="30000"/>
            </a:srgbClr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200" i="1" dirty="0">
                <a:solidFill>
                  <a:srgbClr val="1F1F1F"/>
                </a:solidFill>
                <a:latin typeface="Inter"/>
                <a:cs typeface="Inter"/>
              </a:rPr>
              <a:t>Immagine</a:t>
            </a:r>
          </a:p>
        </p:txBody>
      </p:sp>
      <p:sp>
        <p:nvSpPr>
          <p:cNvPr id="403" name="nx_caption"/>
          <p:cNvSpPr/>
          <p:nvPr/>
        </p:nvSpPr>
        <p:spPr>
          <a:xfrm>
            <a:off x="7020000" y="5508000"/>
            <a:ext cx="4500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i="1" dirty="0">
                <a:solidFill>
                  <a:srgbClr val="1F1F1F"/>
                </a:solidFill>
                <a:latin typeface="Inter"/>
                <a:cs typeface="Inter"/>
              </a:rPr>
              <a:t>Didascalia immagine</a:t>
            </a:r>
          </a:p>
        </p:txBody>
      </p:sp>
      <p:sp>
        <p:nvSpPr>
          <p:cNvPr id="49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91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92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493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800" b="1" dirty="0">
                <a:solidFill>
                  <a:srgbClr val="1F1F1F"/>
                </a:solidFill>
                <a:latin typeface="Inter"/>
                <a:cs typeface="Inter"/>
              </a:rPr>
              <a:t>Titolo del diagramma</a:t>
            </a:r>
          </a:p>
        </p:txBody>
      </p:sp>
      <p:sp>
        <p:nvSpPr>
          <p:cNvPr id="501" name="nx_diagram_box"/>
          <p:cNvSpPr>
            <a:spLocks noGrp="1"/>
          </p:cNvSpPr>
          <p:nvPr>
            <p:ph type="pic" idx="2"/>
          </p:nvPr>
        </p:nvSpPr>
        <p:spPr>
          <a:xfrm>
            <a:off x="720000" y="1440000"/>
            <a:ext cx="10440000" cy="3960000"/>
          </a:xfrm>
          <a:prstGeom prst="rect">
            <a:avLst/>
          </a:prstGeom>
          <a:solidFill>
            <a:srgbClr val="FDE7EE">
              <a:alpha val="30000"/>
            </a:srgbClr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400" i="1" dirty="0">
                <a:solidFill>
                  <a:srgbClr val="1F1F1F"/>
                </a:solidFill>
                <a:latin typeface="Inter"/>
                <a:cs typeface="Inter"/>
              </a:rPr>
              <a:t>Immagine diagramma</a:t>
            </a:r>
          </a:p>
        </p:txBody>
      </p:sp>
      <p:sp>
        <p:nvSpPr>
          <p:cNvPr id="502" name="nx_caption"/>
          <p:cNvSpPr/>
          <p:nvPr/>
        </p:nvSpPr>
        <p:spPr>
          <a:xfrm>
            <a:off x="720000" y="5508000"/>
            <a:ext cx="10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200" i="1" dirty="0">
                <a:solidFill>
                  <a:srgbClr val="1F1F1F"/>
                </a:solidFill>
                <a:latin typeface="Inter"/>
                <a:cs typeface="Inter"/>
              </a:rPr>
              <a:t>Spiegazione del diagramma (max 200 caratteri)</a:t>
            </a:r>
          </a:p>
        </p:txBody>
      </p:sp>
      <p:sp>
        <p:nvSpPr>
          <p:cNvPr id="59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91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92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593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question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2400" dirty="0">
                <a:solidFill>
                  <a:srgbClr val="1F1F1F"/>
                </a:solidFill>
                <a:latin typeface="Inter"/>
                <a:cs typeface="Inter"/>
              </a:rPr>
              <a:t>Quale è la risposta corretta?</a:t>
            </a:r>
          </a:p>
        </p:txBody>
      </p:sp>
      <p:sp>
        <p:nvSpPr>
          <p:cNvPr id="610" name="nx_option_card_a"/>
          <p:cNvSpPr/>
          <p:nvPr/>
        </p:nvSpPr>
        <p:spPr>
          <a:xfrm>
            <a:off x="540000" y="18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letter_a"/>
          <p:cNvSpPr/>
          <p:nvPr/>
        </p:nvSpPr>
        <p:spPr>
          <a:xfrm>
            <a:off x="756000" y="201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letter_text_a"/>
          <p:cNvSpPr/>
          <p:nvPr/>
        </p:nvSpPr>
        <p:spPr>
          <a:xfrm>
            <a:off x="756000" y="201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A</a:t>
            </a:r>
          </a:p>
        </p:txBody>
      </p:sp>
      <p:sp>
        <p:nvSpPr>
          <p:cNvPr id="613" name="nx_option_a"/>
          <p:cNvSpPr/>
          <p:nvPr/>
        </p:nvSpPr>
        <p:spPr>
          <a:xfrm>
            <a:off x="1332000" y="212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A</a:t>
            </a:r>
          </a:p>
        </p:txBody>
      </p:sp>
      <p:sp>
        <p:nvSpPr>
          <p:cNvPr id="620" name="nx_option_card_b"/>
          <p:cNvSpPr/>
          <p:nvPr/>
        </p:nvSpPr>
        <p:spPr>
          <a:xfrm>
            <a:off x="6253200" y="180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letter_b"/>
          <p:cNvSpPr/>
          <p:nvPr/>
        </p:nvSpPr>
        <p:spPr>
          <a:xfrm>
            <a:off x="6469200" y="201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letter_text_b"/>
          <p:cNvSpPr/>
          <p:nvPr/>
        </p:nvSpPr>
        <p:spPr>
          <a:xfrm>
            <a:off x="6469200" y="201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B</a:t>
            </a:r>
          </a:p>
        </p:txBody>
      </p:sp>
      <p:sp>
        <p:nvSpPr>
          <p:cNvPr id="623" name="nx_option_b"/>
          <p:cNvSpPr/>
          <p:nvPr/>
        </p:nvSpPr>
        <p:spPr>
          <a:xfrm>
            <a:off x="7045200" y="212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B</a:t>
            </a:r>
          </a:p>
        </p:txBody>
      </p:sp>
      <p:sp>
        <p:nvSpPr>
          <p:cNvPr id="630" name="nx_option_card_c"/>
          <p:cNvSpPr/>
          <p:nvPr/>
        </p:nvSpPr>
        <p:spPr>
          <a:xfrm>
            <a:off x="540000" y="396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letter_c"/>
          <p:cNvSpPr/>
          <p:nvPr/>
        </p:nvSpPr>
        <p:spPr>
          <a:xfrm>
            <a:off x="756000" y="417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letter_text_c"/>
          <p:cNvSpPr/>
          <p:nvPr/>
        </p:nvSpPr>
        <p:spPr>
          <a:xfrm>
            <a:off x="756000" y="417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C</a:t>
            </a:r>
          </a:p>
        </p:txBody>
      </p:sp>
      <p:sp>
        <p:nvSpPr>
          <p:cNvPr id="633" name="nx_option_c"/>
          <p:cNvSpPr/>
          <p:nvPr/>
        </p:nvSpPr>
        <p:spPr>
          <a:xfrm>
            <a:off x="1332000" y="428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C</a:t>
            </a:r>
          </a:p>
        </p:txBody>
      </p:sp>
      <p:sp>
        <p:nvSpPr>
          <p:cNvPr id="640" name="nx_option_card_d"/>
          <p:cNvSpPr/>
          <p:nvPr/>
        </p:nvSpPr>
        <p:spPr>
          <a:xfrm>
            <a:off x="6253200" y="3960000"/>
            <a:ext cx="5400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2E6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641" name="nx_letter_d"/>
          <p:cNvSpPr/>
          <p:nvPr/>
        </p:nvSpPr>
        <p:spPr>
          <a:xfrm>
            <a:off x="6469200" y="4176000"/>
            <a:ext cx="432000" cy="43200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42" name="nx_letter_text_d"/>
          <p:cNvSpPr/>
          <p:nvPr/>
        </p:nvSpPr>
        <p:spPr>
          <a:xfrm>
            <a:off x="6469200" y="4176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600" b="1" dirty="0">
                <a:solidFill>
                  <a:srgbClr val="FFFFFF"/>
                </a:solidFill>
                <a:latin typeface="Inter"/>
                <a:cs typeface="Inter"/>
              </a:rPr>
              <a:t>D</a:t>
            </a:r>
          </a:p>
        </p:txBody>
      </p:sp>
      <p:sp>
        <p:nvSpPr>
          <p:cNvPr id="643" name="nx_option_d"/>
          <p:cNvSpPr/>
          <p:nvPr/>
        </p:nvSpPr>
        <p:spPr>
          <a:xfrm>
            <a:off x="7045200" y="4284000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600" dirty="0">
                <a:solidFill>
                  <a:srgbClr val="1F1F1F"/>
                </a:solidFill>
                <a:latin typeface="Inter"/>
                <a:cs typeface="Inter"/>
              </a:rPr>
              <a:t>Opzione D</a:t>
            </a:r>
          </a:p>
        </p:txBody>
      </p:sp>
      <p:sp>
        <p:nvSpPr>
          <p:cNvPr id="650" name="nx_correct_bar"/>
          <p:cNvSpPr/>
          <p:nvPr/>
        </p:nvSpPr>
        <p:spPr>
          <a:xfrm>
            <a:off x="540000" y="3708000"/>
            <a:ext cx="5040000" cy="108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51" name="nx_correct_marker"/>
          <p:cNvSpPr/>
          <p:nvPr/>
        </p:nvSpPr>
        <p:spPr>
          <a:xfrm>
            <a:off x="5400000" y="1872000"/>
            <a:ext cx="216000" cy="21600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b="1" dirty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CASE_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case_band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400" b="1" dirty="0">
                <a:solidFill>
                  <a:srgbClr val="FFFFFF"/>
                </a:solidFill>
                <a:latin typeface="Inter"/>
                <a:cs typeface="Inter"/>
              </a:rPr>
              <a:t>CASO STUDIO</a:t>
            </a:r>
          </a:p>
        </p:txBody>
      </p:sp>
      <p:sp>
        <p:nvSpPr>
          <p:cNvPr id="701" name="nx_case_band_label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00" dirty="0">
                <a:solidFill>
                  <a:srgbClr val="FFFFFF"/>
                </a:solidFill>
                <a:latin typeface="Inter"/>
                <a:cs typeface="Inter"/>
              </a:rPr>
              <a:t/>
            </a:r>
          </a:p>
        </p:txBody>
      </p:sp>
      <p:sp>
        <p:nvSpPr>
          <p:cNvPr id="702" name="nx_title"/>
          <p:cNvSpPr>
            <a:spLocks noGrp="1"/>
          </p:cNvSpPr>
          <p:nvPr>
            <p:ph type="title"/>
          </p:nvPr>
        </p:nvSpPr>
        <p:spPr>
          <a:xfrm>
            <a:off x="540000" y="468000"/>
            <a:ext cx="11160000" cy="64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2400" b="1" dirty="0">
                <a:solidFill>
                  <a:srgbClr val="1F1F1F"/>
                </a:solidFill>
                <a:latin typeface="Inter"/>
                <a:cs typeface="Inter"/>
              </a:rPr>
              <a:t>Titolo del caso studio</a:t>
            </a:r>
          </a:p>
        </p:txBody>
      </p:sp>
      <p:sp>
        <p:nvSpPr>
          <p:cNvPr id="710" name="nx_case_bg_situazione"/>
          <p:cNvSpPr/>
          <p:nvPr/>
        </p:nvSpPr>
        <p:spPr>
          <a:xfrm>
            <a:off x="540000" y="1260000"/>
            <a:ext cx="11160000" cy="1296000"/>
          </a:xfrm>
          <a:prstGeom prst="roundRect">
            <a:avLst>
              <a:gd name="adj" fmla="val 6000"/>
            </a:avLst>
          </a:prstGeom>
          <a:solidFill>
            <a:srgbClr val="FDE7E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case_bar_situazione"/>
          <p:cNvSpPr/>
          <p:nvPr/>
        </p:nvSpPr>
        <p:spPr>
          <a:xfrm>
            <a:off x="540000" y="1260000"/>
            <a:ext cx="108000" cy="1296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2" name="nx_case_label_situazione"/>
          <p:cNvSpPr/>
          <p:nvPr/>
        </p:nvSpPr>
        <p:spPr>
          <a:xfrm>
            <a:off x="792000" y="1332000"/>
            <a:ext cx="10872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200" b="1" dirty="0">
                <a:solidFill>
                  <a:srgbClr val="C82E6E"/>
                </a:solidFill>
                <a:latin typeface="Inter"/>
                <a:cs typeface="Inter"/>
              </a:rPr>
              <a:t>SITUAZIONE</a:t>
            </a:r>
          </a:p>
        </p:txBody>
      </p:sp>
      <p:sp>
        <p:nvSpPr>
          <p:cNvPr id="713" name="nx_situazione"/>
          <p:cNvSpPr/>
          <p:nvPr/>
        </p:nvSpPr>
        <p:spPr>
          <a:xfrm>
            <a:off x="792000" y="1620000"/>
            <a:ext cx="10872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lnSpc>
                <a:spcPct val="125000"/>
              </a:lnSpc>
              <a:buNone/>
            </a:pPr>
            <a:r>
              <a:rPr lang="it-IT" sz="1400" dirty="0">
                <a:solidFill>
                  <a:srgbClr val="1F1F1F"/>
                </a:solidFill>
                <a:latin typeface="Inter"/>
                <a:cs typeface="Inter"/>
              </a:rPr>
              <a:t>Descrizione della situazione iniziale</a:t>
            </a:r>
          </a:p>
        </p:txBody>
      </p:sp>
      <p:sp>
        <p:nvSpPr>
          <p:cNvPr id="720" name="nx_case_bg_azione"/>
          <p:cNvSpPr/>
          <p:nvPr/>
        </p:nvSpPr>
        <p:spPr>
          <a:xfrm>
            <a:off x="540000" y="2664000"/>
            <a:ext cx="11160000" cy="1296000"/>
          </a:xfrm>
          <a:prstGeom prst="roundRect">
            <a:avLst>
              <a:gd name="adj" fmla="val 6000"/>
            </a:avLst>
          </a:prstGeom>
          <a:solidFill>
            <a:srgbClr val="F4F8E8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case_bar_azione"/>
          <p:cNvSpPr/>
          <p:nvPr/>
        </p:nvSpPr>
        <p:spPr>
          <a:xfrm>
            <a:off x="540000" y="2664000"/>
            <a:ext cx="108000" cy="1296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2" name="nx_case_label_azione"/>
          <p:cNvSpPr/>
          <p:nvPr/>
        </p:nvSpPr>
        <p:spPr>
          <a:xfrm>
            <a:off x="792000" y="2736000"/>
            <a:ext cx="10872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200" b="1" dirty="0">
                <a:solidFill>
                  <a:srgbClr val="769E2E"/>
                </a:solidFill>
                <a:latin typeface="Inter"/>
                <a:cs typeface="Inter"/>
              </a:rPr>
              <a:t>AZIONE</a:t>
            </a:r>
          </a:p>
        </p:txBody>
      </p:sp>
      <p:sp>
        <p:nvSpPr>
          <p:cNvPr id="723" name="nx_azione"/>
          <p:cNvSpPr/>
          <p:nvPr/>
        </p:nvSpPr>
        <p:spPr>
          <a:xfrm>
            <a:off x="792000" y="3024000"/>
            <a:ext cx="10872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lnSpc>
                <a:spcPct val="125000"/>
              </a:lnSpc>
              <a:buNone/>
            </a:pPr>
            <a:r>
              <a:rPr lang="it-IT" sz="1400" dirty="0">
                <a:solidFill>
                  <a:srgbClr val="1F1F1F"/>
                </a:solidFill>
                <a:latin typeface="Inter"/>
                <a:cs typeface="Inter"/>
              </a:rPr>
              <a:t>Cosa si è fatto</a:t>
            </a:r>
          </a:p>
        </p:txBody>
      </p:sp>
      <p:sp>
        <p:nvSpPr>
          <p:cNvPr id="730" name="nx_case_bg_risultato"/>
          <p:cNvSpPr/>
          <p:nvPr/>
        </p:nvSpPr>
        <p:spPr>
          <a:xfrm>
            <a:off x="540000" y="4068000"/>
            <a:ext cx="11160000" cy="129600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case_bar_risultato"/>
          <p:cNvSpPr/>
          <p:nvPr/>
        </p:nvSpPr>
        <p:spPr>
          <a:xfrm>
            <a:off x="540000" y="4068000"/>
            <a:ext cx="108000" cy="129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2" name="nx_case_label_risultato"/>
          <p:cNvSpPr/>
          <p:nvPr/>
        </p:nvSpPr>
        <p:spPr>
          <a:xfrm>
            <a:off x="792000" y="4140000"/>
            <a:ext cx="10872000" cy="25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buNone/>
            </a:pPr>
            <a:r>
              <a:rPr lang="it-IT" sz="1200" b="1" dirty="0">
                <a:solidFill>
                  <a:srgbClr val="F39C12"/>
                </a:solidFill>
                <a:latin typeface="Inter"/>
                <a:cs typeface="Inter"/>
              </a:rPr>
              <a:t>RISULTATO</a:t>
            </a:r>
          </a:p>
        </p:txBody>
      </p:sp>
      <p:sp>
        <p:nvSpPr>
          <p:cNvPr id="733" name="nx_risultato"/>
          <p:cNvSpPr/>
          <p:nvPr/>
        </p:nvSpPr>
        <p:spPr>
          <a:xfrm>
            <a:off x="792000" y="4428000"/>
            <a:ext cx="10872000" cy="86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 marL="0" indent="0">
              <a:lnSpc>
                <a:spcPct val="125000"/>
              </a:lnSpc>
              <a:buNone/>
            </a:pPr>
            <a:r>
              <a:rPr lang="it-IT" sz="1400" dirty="0">
                <a:solidFill>
                  <a:srgbClr val="1F1F1F"/>
                </a:solidFill>
                <a:latin typeface="Inter"/>
                <a:cs typeface="Inter"/>
              </a:rPr>
              <a:t>Quale risultato si è ottenuto</a:t>
            </a:r>
          </a:p>
        </p:txBody>
      </p:sp>
      <p:sp>
        <p:nvSpPr>
          <p:cNvPr id="740" name="nx_ref"/>
          <p:cNvSpPr/>
          <p:nvPr/>
        </p:nvSpPr>
        <p:spPr>
          <a:xfrm>
            <a:off x="360000" y="6300000"/>
            <a:ext cx="3600000" cy="360000"/>
          </a:xfrm>
          <a:prstGeom prst="roundRect">
            <a:avLst>
              <a:gd name="adj" fmla="val 50000"/>
            </a:avLst>
          </a:prstGeom>
          <a:solidFill>
            <a:srgbClr val="FDE7EE"/>
          </a:solidFill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000" dirty="0">
                <a:solidFill>
                  <a:srgbClr val="C82E6E"/>
                </a:solidFill>
                <a:latin typeface="Inter"/>
                <a:cs typeface="Inter"/>
              </a:rPr>
              <a:t>Riferimento normativo</a:t>
            </a:r>
          </a:p>
        </p:txBody>
      </p:sp>
      <p:sp>
        <p:nvSpPr>
          <p:cNvPr id="741" name="nx_page"/>
          <p:cNvSpPr/>
          <p:nvPr/>
        </p:nvSpPr>
        <p:spPr>
          <a:xfrm>
            <a:off x="9720000" y="63000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 marL="0" indent="0">
              <a:buNone/>
            </a:pPr>
            <a:r>
              <a:rPr lang="it-IT" sz="1000" dirty="0">
                <a:solidFill>
                  <a:srgbClr val="1F1F1F"/>
                </a:solidFill>
                <a:latin typeface="Inter"/>
                <a:cs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MODULE_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module_close_band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module_num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3600" b="1" dirty="0">
                <a:solidFill>
                  <a:srgbClr val="769E2E"/>
                </a:solidFill>
                <a:latin typeface="Inter"/>
                <a:cs typeface="Inter"/>
              </a:rPr>
              <a:t>RIEPILOGO MODULO N</a:t>
            </a:r>
          </a:p>
        </p:txBody>
      </p:sp>
      <p:sp>
        <p:nvSpPr>
          <p:cNvPr id="802" name="nx_module_title"/>
          <p:cNvSpPr>
            <a:spLocks noGrp="1"/>
          </p:cNvSpPr>
          <p:nvPr>
            <p:ph type="body" idx="1"/>
          </p:nvPr>
        </p:nvSpPr>
        <p:spPr>
          <a:xfrm>
            <a:off x="540000" y="1440000"/>
            <a:ext cx="1116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Sintesi del modulo</a:t>
            </a:r>
          </a:p>
        </p:txBody>
      </p:sp>
      <p:sp>
        <p:nvSpPr>
          <p:cNvPr id="803" name="nx_recap_body"/>
          <p:cNvSpPr>
            <a:spLocks noGrp="1"/>
          </p:cNvSpPr>
          <p:nvPr>
            <p:ph type="body" idx="2"/>
          </p:nvPr>
        </p:nvSpPr>
        <p:spPr>
          <a:xfrm>
            <a:off x="1080000" y="2520000"/>
            <a:ext cx="9720000" cy="324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>
            <a:lvl1pPr marL="228600" indent="-228600">
              <a:spcBef>
                <a:spcPts val="1000"/>
              </a:spcBef>
              <a:buFont typeface="Arial"/>
              <a:buChar char="✓"/>
            </a:lvl1pPr>
          </a:lstStyle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1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2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3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4</a:t>
            </a:r>
          </a:p>
          <a:p>
            <a:pPr algn="l" marL="285750" indent="-285750">
              <a:lnSpc>
                <a:spcPct val="130000"/>
              </a:lnSpc>
              <a:spcBef>
                <a:spcPts val="5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1800" dirty="0">
                <a:solidFill>
                  <a:srgbClr val="1F1F1F"/>
                </a:solidFill>
                <a:latin typeface="Inter"/>
                <a:cs typeface="Inter"/>
              </a:rPr>
              <a:t>Concetto chiave 5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NX 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x_accent_v"/>
          <p:cNvSpPr/>
          <p:nvPr/>
        </p:nvSpPr>
        <p:spPr>
          <a:xfrm>
            <a:off x="0" y="0"/>
            <a:ext cx="72000" cy="6858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1" name="nx_title"/>
          <p:cNvSpPr>
            <a:spLocks noGrp="1"/>
          </p:cNvSpPr>
          <p:nvPr>
            <p:ph type="title"/>
          </p:nvPr>
        </p:nvSpPr>
        <p:spPr>
          <a:xfrm>
            <a:off x="540000" y="540000"/>
            <a:ext cx="1116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>
              <a:buNone/>
            </a:pPr>
            <a:r>
              <a:rPr lang="it-IT" sz="3200" b="1" dirty="0">
                <a:solidFill>
                  <a:srgbClr val="1F1F1F"/>
                </a:solidFill>
                <a:latin typeface="Inter"/>
                <a:cs typeface="Inter"/>
              </a:rPr>
              <a:t>RIEPILOGO DEL CORSO</a:t>
            </a:r>
          </a:p>
        </p:txBody>
      </p:sp>
      <p:sp>
        <p:nvSpPr>
          <p:cNvPr id="902" name="nx_mini_bar"/>
          <p:cNvSpPr/>
          <p:nvPr/>
        </p:nvSpPr>
        <p:spPr>
          <a:xfrm>
            <a:off x="540000" y="1260000"/>
            <a:ext cx="900000" cy="5400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3" name="nx_recap_body"/>
          <p:cNvSpPr>
            <a:spLocks noGrp="1"/>
          </p:cNvSpPr>
          <p:nvPr>
            <p:ph type="body" idx="1"/>
          </p:nvPr>
        </p:nvSpPr>
        <p:spPr>
          <a:xfrm>
            <a:off x="1080000" y="1980000"/>
            <a:ext cx="9720000" cy="39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>
            <a:lvl1pPr marL="228600" indent="-228600">
              <a:spcBef>
                <a:spcPts val="1000"/>
              </a:spcBef>
              <a:buFont typeface="Arial"/>
              <a:buChar char="✓"/>
            </a:lvl1pPr>
          </a:lstStyle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1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2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3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4 del corso</a:t>
            </a:r>
          </a:p>
          <a:p>
            <a:pPr algn="l" marL="285750" indent="-285750">
              <a:lnSpc>
                <a:spcPct val="140000"/>
              </a:lnSpc>
              <a:spcBef>
                <a:spcPts val="600"/>
              </a:spcBef>
              <a:buClr>
                <a:srgbClr val="769E2E"/>
              </a:buClr>
              <a:buFont typeface="Arial"/>
              <a:buChar char="✓"/>
            </a:pPr>
            <a:r>
              <a:rPr lang="it-IT" sz="2000" dirty="0">
                <a:solidFill>
                  <a:srgbClr val="1F1F1F"/>
                </a:solidFill>
                <a:latin typeface="Inter"/>
                <a:cs typeface="Inter"/>
              </a:rPr>
              <a:t>Punto chiave 5 del corso</a:t>
            </a:r>
          </a:p>
        </p:txBody>
      </p:sp>
      <p:sp>
        <p:nvSpPr>
          <p:cNvPr id="999" name="nx_page"/>
          <p:cNvSpPr txBox="1"/>
          <p:nvPr/>
        </p:nvSpPr>
        <p:spPr>
          <a:xfrm>
            <a:off x="9720000" y="6300000"/>
            <a:ext cx="1800000" cy="288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it-IT" sz="1000">
                <a:solidFill>
                  <a:srgbClr val="1F1F1F"/>
                </a:solidFill>
                <a:latin typeface="Inter"/>
              </a:rPr>
              <a:t>000 / 000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NX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nx_bg_gra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1" name="nx_blob_bl"/>
          <p:cNvSpPr/>
          <p:nvPr/>
        </p:nvSpPr>
        <p:spPr>
          <a:xfrm>
            <a:off x="180000" y="4680000"/>
            <a:ext cx="1800000" cy="18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2" name="nx_title"/>
          <p:cNvSpPr>
            <a:spLocks noGrp="1"/>
          </p:cNvSpPr>
          <p:nvPr>
            <p:ph type="title"/>
          </p:nvPr>
        </p:nvSpPr>
        <p:spPr>
          <a:xfrm>
            <a:off x="720000" y="2160000"/>
            <a:ext cx="10753200" cy="126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4000" b="1" dirty="0">
                <a:solidFill>
                  <a:srgbClr val="FFFFFF"/>
                </a:solidFill>
                <a:latin typeface="Inter"/>
                <a:cs typeface="Inter"/>
              </a:rPr>
              <a:t>Grazie per l’attenzione</a:t>
            </a:r>
          </a:p>
        </p:txBody>
      </p:sp>
      <p:sp>
        <p:nvSpPr>
          <p:cNvPr id="1003" name="nx_tagline"/>
          <p:cNvSpPr/>
          <p:nvPr/>
        </p:nvSpPr>
        <p:spPr>
          <a:xfrm>
            <a:off x="720000" y="3600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 marL="0" indent="0">
              <a:buNone/>
            </a:pPr>
            <a:r>
              <a:rPr lang="it-IT" sz="1800" i="1" dirty="0">
                <a:solidFill>
                  <a:srgbClr val="FFFFFF"/>
                </a:solidFill>
                <a:latin typeface="Inter"/>
                <a:cs typeface="Inter"/>
              </a:rPr>
              <a:t>C.F.P. Montessori — Formazione Globale</a:t>
            </a:r>
          </a:p>
        </p:txBody>
      </p:sp>
      <p:sp>
        <p:nvSpPr>
          <p:cNvPr id="1004" name="nx_dot1"/>
          <p:cNvSpPr/>
          <p:nvPr/>
        </p:nvSpPr>
        <p:spPr>
          <a:xfrm>
            <a:off x="5652000" y="4320000"/>
            <a:ext cx="108000" cy="10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5" name="nx_dot2"/>
          <p:cNvSpPr/>
          <p:nvPr/>
        </p:nvSpPr>
        <p:spPr>
          <a:xfrm>
            <a:off x="5940000" y="4320000"/>
            <a:ext cx="108000" cy="10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6" name="nx_dot3"/>
          <p:cNvSpPr/>
          <p:nvPr/>
        </p:nvSpPr>
        <p:spPr>
          <a:xfrm>
            <a:off x="6228000" y="4320000"/>
            <a:ext cx="108000" cy="10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08" name="nx_logo_badge"/>
          <p:cNvSpPr/>
          <p:nvPr/>
        </p:nvSpPr>
        <p:spPr>
          <a:xfrm>
            <a:off x="5106000" y="4896000"/>
            <a:ext cx="1980000" cy="1008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1007" name="nx_logo_large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376000" y="5040000"/>
            <a:ext cx="1440000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00" Type="http://schemas.openxmlformats.org/officeDocument/2006/relationships/image" Target="../media/cfp_logo.jpeg"/><Relationship Id="rId20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nx_logo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1184000" y="6318000"/>
            <a:ext cx="900000" cy="45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defRPr sz="2800" b="1">
          <a:solidFill>
            <a:srgbClr val="1F1F1F"/>
          </a:solidFill>
          <a:latin typeface="Inter"/>
        </a:defRPr>
      </a:lvl1pPr>
    </p:titleStyle>
    <p:bodyStyle>
      <a:lvl1pPr algn="l">
        <a:defRPr sz="2000">
          <a:solidFill>
            <a:srgbClr val="1F1F1F"/>
          </a:solidFill>
          <a:latin typeface="Inter"/>
        </a:defRPr>
      </a:lvl1pPr>
    </p:bodyStyle>
    <p:otherStyle>
      <a:defPPr algn="l">
        <a:defRPr sz="1600">
          <a:latin typeface="Inter"/>
        </a:defRPr>
      </a:defPPr>
    </p:otherStyle>
  </p:txStyles>
</p:sldMaster>
</file>

<file path=ppt/theme/theme1.xml><?xml version="1.0" encoding="utf-8"?>
<a:theme xmlns:a="http://schemas.openxmlformats.org/drawingml/2006/main" name="CFP">
  <a:themeElements>
    <a:clrScheme name="CFP">
      <a:dk1>
        <a:srgbClr val="1F1F1F"/>
      </a:dk1>
      <a:lt1>
        <a:srgbClr val="FFFFFF"/>
      </a:lt1>
      <a:dk2>
        <a:srgbClr val="1F1F1F"/>
      </a:dk2>
      <a:lt2>
        <a:srgbClr val="FDE7EE"/>
      </a:lt2>
      <a:accent1>
        <a:srgbClr val="C82E6E"/>
      </a:accent1>
      <a:accent2>
        <a:srgbClr val="769E2E"/>
      </a:accent2>
      <a:accent3>
        <a:srgbClr val="A8255A"/>
      </a:accent3>
      <a:accent4>
        <a:srgbClr val="F39C12"/>
      </a:accent4>
      <a:accent5>
        <a:srgbClr val="FDE7EE"/>
      </a:accent5>
      <a:accent6>
        <a:srgbClr val="F4F8E8"/>
      </a:accent6>
      <a:hlink>
        <a:srgbClr val="C82E6E"/>
      </a:hlink>
      <a:folHlink>
        <a:srgbClr val="A8255A"/>
      </a:folHlink>
    </a:clrScheme>
    <a:fontScheme name="CFP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  <a:miter lim="800000"/>
        </a:ln>
        <a:ln w="12700">
          <a:solidFill>
            <a:schemeClr val="phClr"/>
          </a:solidFill>
          <a:prstDash val="solid"/>
          <a:miter lim="800000"/>
        </a:ln>
        <a:ln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CFP Montessori</Application>
  <PresentationFormat>Widescreen</PresentationFormat>
  <Slides>0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CFP Montessori — Nexus Master v4</dc:title>
  <dc:creator>CFP Montessori</dc:creator>
  <cp:revision>4</cp:revision>
  <dcterms:created xsi:type="dcterms:W3CDTF">2026-05-26T00:00:00Z</dcterms:created>
  <dcterms:modified xsi:type="dcterms:W3CDTF">2026-05-26T00:00:00Z</dcterms:modified>
</cp:coreProperties>
</file>