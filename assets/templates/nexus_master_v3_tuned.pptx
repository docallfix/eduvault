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1695" cy="6858000"/>
  <p:notesSz cx="10287000" cy="18288000"/>
  <p:defaultTextStyle>
    <a:defPPr>
      <a:defRPr lang="it-IT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8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X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nx_band_top"/>
          <p:cNvSpPr/>
          <p:nvPr/>
        </p:nvSpPr>
        <p:spPr>
          <a:xfrm>
            <a:off x="0" y="0"/>
            <a:ext cx="12191695" cy="39623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769E2E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101" name="nx_blob_bl"/>
          <p:cNvSpPr/>
          <p:nvPr/>
        </p:nvSpPr>
        <p:spPr>
          <a:xfrm>
            <a:off x="487667" y="4449968"/>
            <a:ext cx="1950671" cy="1950671"/>
          </a:xfrm>
          <a:prstGeom prst="ellipse">
            <a:avLst/>
          </a:prstGeom>
          <a:solidFill>
            <a:srgbClr val="E1F0FF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102" name="nx_blob_tr"/>
          <p:cNvSpPr/>
          <p:nvPr/>
        </p:nvSpPr>
        <p:spPr>
          <a:xfrm>
            <a:off x="10058148" y="609584"/>
            <a:ext cx="1706837" cy="1706837"/>
          </a:xfrm>
          <a:prstGeom prst="ellipse">
            <a:avLst/>
          </a:prstGeom>
          <a:solidFill>
            <a:srgbClr val="FCE4EC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103" name="nx_title"/>
          <p:cNvSpPr txBox="1"/>
          <p:nvPr/>
        </p:nvSpPr>
        <p:spPr>
          <a:xfrm>
            <a:off x="914377" y="2072588"/>
            <a:ext cx="10362940" cy="182875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/>
        </p:txBody>
      </p:sp>
      <p:sp>
        <p:nvSpPr>
          <p:cNvPr id="104" name="nx_subtitle"/>
          <p:cNvSpPr txBox="1"/>
          <p:nvPr/>
        </p:nvSpPr>
        <p:spPr>
          <a:xfrm>
            <a:off x="914377" y="4023259"/>
            <a:ext cx="10362940" cy="60958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pic>
        <p:nvPicPr>
          <p:cNvPr id="105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70" y="5120511"/>
            <a:ext cx="1828754" cy="487667"/>
          </a:xfrm>
          <a:prstGeom prst="rect">
            <a:avLst/>
          </a:prstGeom>
        </p:spPr>
      </p:pic>
      <p:sp>
        <p:nvSpPr>
          <p:cNvPr id="106" name="nx_dot1"/>
          <p:cNvSpPr/>
          <p:nvPr/>
        </p:nvSpPr>
        <p:spPr>
          <a:xfrm>
            <a:off x="5730096" y="5821534"/>
            <a:ext cx="195067" cy="195067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107" name="nx_dot2"/>
          <p:cNvSpPr/>
          <p:nvPr/>
        </p:nvSpPr>
        <p:spPr>
          <a:xfrm>
            <a:off x="5998314" y="5821534"/>
            <a:ext cx="195067" cy="195067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108" name="nx_dot3"/>
          <p:cNvSpPr/>
          <p:nvPr/>
        </p:nvSpPr>
        <p:spPr>
          <a:xfrm>
            <a:off x="6266531" y="5821534"/>
            <a:ext cx="195067" cy="195067"/>
          </a:xfrm>
          <a:prstGeom prst="ellipse">
            <a:avLst/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CONTENT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x_accent_v"/>
          <p:cNvSpPr/>
          <p:nvPr/>
        </p:nvSpPr>
        <p:spPr>
          <a:xfrm>
            <a:off x="0" y="0"/>
            <a:ext cx="48766" cy="6857828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201" name="nx_title"/>
          <p:cNvSpPr txBox="1"/>
          <p:nvPr>
            <p:ph type="title" idx="0"/>
          </p:nvPr>
        </p:nvSpPr>
        <p:spPr>
          <a:xfrm>
            <a:off x="426709" y="365750"/>
            <a:ext cx="11338276" cy="67054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202" name="nx_mini_bar"/>
          <p:cNvSpPr/>
          <p:nvPr/>
        </p:nvSpPr>
        <p:spPr>
          <a:xfrm>
            <a:off x="426709" y="1127731"/>
            <a:ext cx="914377" cy="48766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203" name="nx_body"/>
          <p:cNvSpPr txBox="1"/>
          <p:nvPr>
            <p:ph type="body" idx="1"/>
          </p:nvPr>
        </p:nvSpPr>
        <p:spPr>
          <a:xfrm>
            <a:off x="426709" y="1402044"/>
            <a:ext cx="11338276" cy="481571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>
            <a:lvl1pPr marL="342900" indent="-342900">
              <a:buFont typeface="Arial"/>
              <a:buChar char="•"/>
            </a:lvl1pPr>
          </a:lstStyle>
          <a:p/>
        </p:txBody>
      </p:sp>
      <p:sp>
        <p:nvSpPr>
          <p:cNvPr id="290" name="nx_ref"/>
          <p:cNvSpPr/>
          <p:nvPr/>
        </p:nvSpPr>
        <p:spPr>
          <a:xfrm>
            <a:off x="365750" y="6370160"/>
            <a:ext cx="2926006" cy="304792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/>
        </p:txBody>
      </p:sp>
      <p:sp>
        <p:nvSpPr>
          <p:cNvPr id="291" name="nx_page"/>
          <p:cNvSpPr txBox="1"/>
          <p:nvPr/>
        </p:nvSpPr>
        <p:spPr>
          <a:xfrm>
            <a:off x="9021854" y="6370160"/>
            <a:ext cx="1463003" cy="30479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endParaRPr>
              <a:latin typeface="Inter"/>
            </a:endParaRPr>
          </a:p>
        </p:txBody>
      </p:sp>
      <p:pic>
        <p:nvPicPr>
          <p:cNvPr id="2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0608" y="6370160"/>
            <a:ext cx="975335" cy="3047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CONTENT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nx_accent_v"/>
          <p:cNvSpPr/>
          <p:nvPr/>
        </p:nvSpPr>
        <p:spPr>
          <a:xfrm>
            <a:off x="0" y="0"/>
            <a:ext cx="48766" cy="6857828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301" name="nx_title"/>
          <p:cNvSpPr txBox="1"/>
          <p:nvPr>
            <p:ph type="title" idx="0"/>
          </p:nvPr>
        </p:nvSpPr>
        <p:spPr>
          <a:xfrm>
            <a:off x="426709" y="365750"/>
            <a:ext cx="11338276" cy="67054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302" name="nx_mini_bar"/>
          <p:cNvSpPr/>
          <p:nvPr/>
        </p:nvSpPr>
        <p:spPr>
          <a:xfrm>
            <a:off x="426709" y="1127731"/>
            <a:ext cx="914377" cy="48766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303" name="nx_body"/>
          <p:cNvSpPr txBox="1"/>
          <p:nvPr>
            <p:ph type="body" idx="1"/>
          </p:nvPr>
        </p:nvSpPr>
        <p:spPr>
          <a:xfrm>
            <a:off x="426709" y="1402044"/>
            <a:ext cx="6278723" cy="457188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>
            <a:lvl1pPr marL="342900" indent="-342900">
              <a:buFont typeface="Arial"/>
              <a:buChar char="•"/>
            </a:lvl1pPr>
          </a:lstStyle>
          <a:p/>
        </p:txBody>
      </p:sp>
      <p:sp>
        <p:nvSpPr>
          <p:cNvPr id="304" name="nx_image_box"/>
          <p:cNvSpPr/>
          <p:nvPr>
            <p:ph type="pic" idx="2"/>
          </p:nvPr>
        </p:nvSpPr>
        <p:spPr>
          <a:xfrm>
            <a:off x="6949266" y="1402044"/>
            <a:ext cx="4815719" cy="390134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 wrap="square" anchor="ctr"/>
          <a:lstStyle/>
          <a:p>
            <a:pPr algn="ctr"/>
            <a:r>
              <a:rPr lang="it-IT" sz="933" i="1" dirty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305" name="nx_caption"/>
          <p:cNvSpPr txBox="1"/>
          <p:nvPr/>
        </p:nvSpPr>
        <p:spPr>
          <a:xfrm>
            <a:off x="6949266" y="5394825"/>
            <a:ext cx="4815719" cy="335271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</a:p>
        </p:txBody>
      </p:sp>
      <p:sp>
        <p:nvSpPr>
          <p:cNvPr id="390" name="nx_ref"/>
          <p:cNvSpPr/>
          <p:nvPr/>
        </p:nvSpPr>
        <p:spPr>
          <a:xfrm>
            <a:off x="365750" y="6370160"/>
            <a:ext cx="2926006" cy="304792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/>
        </p:txBody>
      </p:sp>
      <p:sp>
        <p:nvSpPr>
          <p:cNvPr id="391" name="nx_page"/>
          <p:cNvSpPr txBox="1"/>
          <p:nvPr/>
        </p:nvSpPr>
        <p:spPr>
          <a:xfrm>
            <a:off x="9021854" y="6370160"/>
            <a:ext cx="1463003" cy="30479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endParaRPr>
              <a:latin typeface="Inter"/>
            </a:endParaRPr>
          </a:p>
        </p:txBody>
      </p:sp>
      <p:pic>
        <p:nvPicPr>
          <p:cNvPr id="3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0608" y="6370160"/>
            <a:ext cx="975335" cy="3047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nx_accent_v"/>
          <p:cNvSpPr/>
          <p:nvPr/>
        </p:nvSpPr>
        <p:spPr>
          <a:xfrm>
            <a:off x="0" y="0"/>
            <a:ext cx="48766" cy="6857828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401" name="nx_title"/>
          <p:cNvSpPr txBox="1"/>
          <p:nvPr>
            <p:ph type="title" idx="0"/>
          </p:nvPr>
        </p:nvSpPr>
        <p:spPr>
          <a:xfrm>
            <a:off x="426709" y="365750"/>
            <a:ext cx="11338276" cy="67054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402" name="nx_mini_bar"/>
          <p:cNvSpPr/>
          <p:nvPr/>
        </p:nvSpPr>
        <p:spPr>
          <a:xfrm>
            <a:off x="426709" y="1127731"/>
            <a:ext cx="914377" cy="48766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403" name="nx_diagram_box"/>
          <p:cNvSpPr/>
          <p:nvPr>
            <p:ph type="pic" idx="2"/>
          </p:nvPr>
        </p:nvSpPr>
        <p:spPr>
          <a:xfrm>
            <a:off x="914377" y="1402044"/>
            <a:ext cx="10362940" cy="4084217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 wrap="square" anchor="ctr"/>
          <a:lstStyle/>
          <a:p>
            <a:pPr algn="ctr"/>
            <a:r>
              <a:rPr lang="it-IT" sz="1199" i="1" dirty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404" name="nx_caption"/>
          <p:cNvSpPr txBox="1"/>
          <p:nvPr/>
        </p:nvSpPr>
        <p:spPr>
          <a:xfrm>
            <a:off x="914377" y="5577700"/>
            <a:ext cx="10362940" cy="426709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</a:p>
        </p:txBody>
      </p:sp>
      <p:sp>
        <p:nvSpPr>
          <p:cNvPr id="490" name="nx_ref"/>
          <p:cNvSpPr/>
          <p:nvPr/>
        </p:nvSpPr>
        <p:spPr>
          <a:xfrm>
            <a:off x="365750" y="6370160"/>
            <a:ext cx="2926006" cy="304792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/>
        </p:txBody>
      </p:sp>
      <p:sp>
        <p:nvSpPr>
          <p:cNvPr id="491" name="nx_page"/>
          <p:cNvSpPr txBox="1"/>
          <p:nvPr/>
        </p:nvSpPr>
        <p:spPr>
          <a:xfrm>
            <a:off x="9021854" y="6370160"/>
            <a:ext cx="1463003" cy="30479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endParaRPr>
              <a:latin typeface="Inter"/>
            </a:endParaRPr>
          </a:p>
        </p:txBody>
      </p:sp>
      <p:pic>
        <p:nvPicPr>
          <p:cNvPr id="4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0608" y="6370160"/>
            <a:ext cx="975335" cy="3047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QUIZ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nx_accent_v"/>
          <p:cNvSpPr/>
          <p:nvPr/>
        </p:nvSpPr>
        <p:spPr>
          <a:xfrm>
            <a:off x="0" y="0"/>
            <a:ext cx="48766" cy="6857828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501" name="nx_question_box"/>
          <p:cNvSpPr/>
          <p:nvPr/>
        </p:nvSpPr>
        <p:spPr>
          <a:xfrm>
            <a:off x="426709" y="365750"/>
            <a:ext cx="11338276" cy="944856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502" name="nx_title"/>
          <p:cNvSpPr txBox="1"/>
          <p:nvPr/>
        </p:nvSpPr>
        <p:spPr>
          <a:xfrm>
            <a:off x="609584" y="365750"/>
            <a:ext cx="10972525" cy="94485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599" b="1" dirty="0">
                <a:solidFill>
                  <a:srgbClr val="1F1F2C"/>
                </a:solidFill>
                <a:cs typeface="Montserrat"/>
                <a:latin typeface="Inter"/>
              </a:rPr>
              <a:t>Testo della domanda?</a:t>
            </a:r>
          </a:p>
        </p:txBody>
      </p:sp>
      <p:sp>
        <p:nvSpPr>
          <p:cNvPr id="510" name="nx_option_card_a"/>
          <p:cNvSpPr/>
          <p:nvPr/>
        </p:nvSpPr>
        <p:spPr>
          <a:xfrm>
            <a:off x="1523961" y="1554441"/>
            <a:ext cx="9143771" cy="822939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511" name="nx_letter_a"/>
          <p:cNvSpPr/>
          <p:nvPr/>
        </p:nvSpPr>
        <p:spPr>
          <a:xfrm>
            <a:off x="1767795" y="1722076"/>
            <a:ext cx="487667" cy="487667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512" name="nx_letter_text_a"/>
          <p:cNvSpPr txBox="1"/>
          <p:nvPr/>
        </p:nvSpPr>
        <p:spPr>
          <a:xfrm>
            <a:off x="1767795" y="1722076"/>
            <a:ext cx="487667" cy="487667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466" b="1" dirty="0">
                <a:solidFill>
                  <a:srgbClr val="FFFFFF"/>
                </a:solidFill>
                <a:cs typeface="Montserrat"/>
                <a:latin typeface="Inter"/>
              </a:rPr>
              <a:t>A</a:t>
            </a:r>
          </a:p>
        </p:txBody>
      </p:sp>
      <p:sp>
        <p:nvSpPr>
          <p:cNvPr id="513" name="nx_option_a"/>
          <p:cNvSpPr txBox="1"/>
          <p:nvPr/>
        </p:nvSpPr>
        <p:spPr>
          <a:xfrm>
            <a:off x="2438339" y="1645878"/>
            <a:ext cx="7924601" cy="640063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/>
        </p:txBody>
      </p:sp>
      <p:sp>
        <p:nvSpPr>
          <p:cNvPr id="520" name="nx_option_card_b"/>
          <p:cNvSpPr/>
          <p:nvPr/>
        </p:nvSpPr>
        <p:spPr>
          <a:xfrm>
            <a:off x="1523961" y="2499297"/>
            <a:ext cx="9143771" cy="822939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521" name="nx_letter_b"/>
          <p:cNvSpPr/>
          <p:nvPr/>
        </p:nvSpPr>
        <p:spPr>
          <a:xfrm>
            <a:off x="1767795" y="2666933"/>
            <a:ext cx="487667" cy="487667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522" name="nx_letter_text_b"/>
          <p:cNvSpPr txBox="1"/>
          <p:nvPr/>
        </p:nvSpPr>
        <p:spPr>
          <a:xfrm>
            <a:off x="1767795" y="2666933"/>
            <a:ext cx="487667" cy="487667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466" b="1" dirty="0">
                <a:solidFill>
                  <a:srgbClr val="FFFFFF"/>
                </a:solidFill>
                <a:cs typeface="Montserrat"/>
                <a:latin typeface="Inter"/>
              </a:rPr>
              <a:t>B</a:t>
            </a:r>
          </a:p>
        </p:txBody>
      </p:sp>
      <p:sp>
        <p:nvSpPr>
          <p:cNvPr id="523" name="nx_option_b"/>
          <p:cNvSpPr txBox="1"/>
          <p:nvPr/>
        </p:nvSpPr>
        <p:spPr>
          <a:xfrm>
            <a:off x="2438339" y="2590735"/>
            <a:ext cx="7924601" cy="640063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/>
        </p:txBody>
      </p:sp>
      <p:sp>
        <p:nvSpPr>
          <p:cNvPr id="530" name="nx_option_card_c"/>
          <p:cNvSpPr/>
          <p:nvPr/>
        </p:nvSpPr>
        <p:spPr>
          <a:xfrm>
            <a:off x="1523961" y="3444153"/>
            <a:ext cx="9143771" cy="822939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531" name="nx_letter_c"/>
          <p:cNvSpPr/>
          <p:nvPr/>
        </p:nvSpPr>
        <p:spPr>
          <a:xfrm>
            <a:off x="1767795" y="3611789"/>
            <a:ext cx="487667" cy="487667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532" name="nx_letter_text_c"/>
          <p:cNvSpPr txBox="1"/>
          <p:nvPr/>
        </p:nvSpPr>
        <p:spPr>
          <a:xfrm>
            <a:off x="1767795" y="3611789"/>
            <a:ext cx="487667" cy="487667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466" b="1" dirty="0">
                <a:solidFill>
                  <a:srgbClr val="FFFFFF"/>
                </a:solidFill>
                <a:cs typeface="Montserrat"/>
                <a:latin typeface="Inter"/>
              </a:rPr>
              <a:t>C</a:t>
            </a:r>
          </a:p>
        </p:txBody>
      </p:sp>
      <p:sp>
        <p:nvSpPr>
          <p:cNvPr id="533" name="nx_option_c"/>
          <p:cNvSpPr txBox="1"/>
          <p:nvPr/>
        </p:nvSpPr>
        <p:spPr>
          <a:xfrm>
            <a:off x="2438339" y="3535591"/>
            <a:ext cx="7924601" cy="640063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/>
        </p:txBody>
      </p:sp>
      <p:sp>
        <p:nvSpPr>
          <p:cNvPr id="540" name="nx_option_card_d"/>
          <p:cNvSpPr/>
          <p:nvPr/>
        </p:nvSpPr>
        <p:spPr>
          <a:xfrm>
            <a:off x="1523961" y="4389010"/>
            <a:ext cx="9143771" cy="822939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541" name="nx_letter_d"/>
          <p:cNvSpPr/>
          <p:nvPr/>
        </p:nvSpPr>
        <p:spPr>
          <a:xfrm>
            <a:off x="1767795" y="4556646"/>
            <a:ext cx="487667" cy="487667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542" name="nx_letter_text_d"/>
          <p:cNvSpPr txBox="1"/>
          <p:nvPr/>
        </p:nvSpPr>
        <p:spPr>
          <a:xfrm>
            <a:off x="1767795" y="4556646"/>
            <a:ext cx="487667" cy="487667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466" b="1" dirty="0">
                <a:solidFill>
                  <a:srgbClr val="FFFFFF"/>
                </a:solidFill>
                <a:cs typeface="Montserrat"/>
                <a:latin typeface="Inter"/>
              </a:rPr>
              <a:t>D</a:t>
            </a:r>
          </a:p>
        </p:txBody>
      </p:sp>
      <p:sp>
        <p:nvSpPr>
          <p:cNvPr id="543" name="nx_option_d"/>
          <p:cNvSpPr txBox="1"/>
          <p:nvPr/>
        </p:nvSpPr>
        <p:spPr>
          <a:xfrm>
            <a:off x="2438339" y="4480447"/>
            <a:ext cx="7924601" cy="640063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/>
        </p:txBody>
      </p:sp>
      <p:sp>
        <p:nvSpPr>
          <p:cNvPr id="550" name="nx_correct_bar"/>
          <p:cNvSpPr/>
          <p:nvPr/>
        </p:nvSpPr>
        <p:spPr>
          <a:xfrm>
            <a:off x="0" y="6004409"/>
            <a:ext cx="12191695" cy="853418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A8255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551" name="nx_correct_marker"/>
          <p:cNvSpPr txBox="1"/>
          <p:nvPr/>
        </p:nvSpPr>
        <p:spPr>
          <a:xfrm>
            <a:off x="426709" y="6004409"/>
            <a:ext cx="11338276" cy="85341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/>
        </p:txBody>
      </p:sp>
      <p:pic>
        <p:nvPicPr>
          <p:cNvPr id="55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0608" y="5425304"/>
            <a:ext cx="975335" cy="3047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CASE STU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nx_case_band"/>
          <p:cNvSpPr/>
          <p:nvPr/>
        </p:nvSpPr>
        <p:spPr>
          <a:xfrm>
            <a:off x="0" y="0"/>
            <a:ext cx="12191695" cy="426709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A8255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601" name="nx_case_band_label"/>
          <p:cNvSpPr txBox="1"/>
          <p:nvPr/>
        </p:nvSpPr>
        <p:spPr>
          <a:xfrm>
            <a:off x="426709" y="0"/>
            <a:ext cx="11338276" cy="426709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933" b="1" dirty="0">
                <a:solidFill>
                  <a:srgbClr val="FFFFFF"/>
                </a:solidFill>
                <a:cs typeface="Montserrat"/>
                <a:latin typeface="Inter"/>
              </a:rPr>
              <a:t>CASO STUDIO</a:t>
            </a:r>
          </a:p>
        </p:txBody>
      </p:sp>
      <p:sp>
        <p:nvSpPr>
          <p:cNvPr id="602" name="nx_title"/>
          <p:cNvSpPr txBox="1"/>
          <p:nvPr/>
        </p:nvSpPr>
        <p:spPr>
          <a:xfrm>
            <a:off x="426709" y="609584"/>
            <a:ext cx="11338276" cy="67054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610" name="nx_case_bg_situazione"/>
          <p:cNvSpPr/>
          <p:nvPr/>
        </p:nvSpPr>
        <p:spPr>
          <a:xfrm>
            <a:off x="426709" y="1432524"/>
            <a:ext cx="11338276" cy="1341086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611" name="nx_case_bar_situazione"/>
          <p:cNvSpPr/>
          <p:nvPr/>
        </p:nvSpPr>
        <p:spPr>
          <a:xfrm>
            <a:off x="426709" y="1432524"/>
            <a:ext cx="97533" cy="1341086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612" name="nx_case_label_situazione"/>
          <p:cNvSpPr txBox="1"/>
          <p:nvPr/>
        </p:nvSpPr>
        <p:spPr>
          <a:xfrm>
            <a:off x="731501" y="1554441"/>
            <a:ext cx="10972525" cy="27431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866" b="1" dirty="0">
                <a:solidFill>
                  <a:srgbClr val="C82E6E"/>
                </a:solidFill>
                <a:cs typeface="Montserrat"/>
                <a:latin typeface="Inter"/>
              </a:rPr>
              <a:t>SITUAZIONE</a:t>
            </a:r>
          </a:p>
        </p:txBody>
      </p:sp>
      <p:sp>
        <p:nvSpPr>
          <p:cNvPr id="613" name="nx_situazione"/>
          <p:cNvSpPr txBox="1"/>
          <p:nvPr/>
        </p:nvSpPr>
        <p:spPr>
          <a:xfrm>
            <a:off x="731501" y="1859233"/>
            <a:ext cx="10972525" cy="822939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999" dirty="0">
                <a:solidFill>
                  <a:srgbClr val="1A1A1A"/>
                </a:solidFill>
                <a:cs typeface="DM Sans"/>
                <a:latin typeface="Inter"/>
              </a:rPr>
              <a:t>Testo sezione situazione.</a:t>
            </a:r>
          </a:p>
        </p:txBody>
      </p:sp>
      <p:sp>
        <p:nvSpPr>
          <p:cNvPr id="620" name="nx_case_bg_azione"/>
          <p:cNvSpPr/>
          <p:nvPr/>
        </p:nvSpPr>
        <p:spPr>
          <a:xfrm>
            <a:off x="426709" y="2926006"/>
            <a:ext cx="11338276" cy="1341086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621" name="nx_case_bar_azione"/>
          <p:cNvSpPr/>
          <p:nvPr/>
        </p:nvSpPr>
        <p:spPr>
          <a:xfrm>
            <a:off x="426709" y="2926006"/>
            <a:ext cx="97533" cy="1341086"/>
          </a:xfrm>
          <a:prstGeom prst="roundRect">
            <a:avLst>
              <a:gd name="adj" fmla="val 50000"/>
            </a:avLst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622" name="nx_case_label_azione"/>
          <p:cNvSpPr txBox="1"/>
          <p:nvPr/>
        </p:nvSpPr>
        <p:spPr>
          <a:xfrm>
            <a:off x="731501" y="3047923"/>
            <a:ext cx="10972525" cy="27431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866" b="1" dirty="0">
                <a:solidFill>
                  <a:srgbClr val="769E2E"/>
                </a:solidFill>
                <a:cs typeface="Montserrat"/>
                <a:latin typeface="Inter"/>
              </a:rPr>
              <a:t>AZIONE</a:t>
            </a:r>
          </a:p>
        </p:txBody>
      </p:sp>
      <p:sp>
        <p:nvSpPr>
          <p:cNvPr id="623" name="nx_azione"/>
          <p:cNvSpPr txBox="1"/>
          <p:nvPr/>
        </p:nvSpPr>
        <p:spPr>
          <a:xfrm>
            <a:off x="731501" y="3352716"/>
            <a:ext cx="10972525" cy="822939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999" dirty="0">
                <a:solidFill>
                  <a:srgbClr val="1A1A1A"/>
                </a:solidFill>
                <a:cs typeface="DM Sans"/>
                <a:latin typeface="Inter"/>
              </a:rPr>
              <a:t>Testo sezione azione.</a:t>
            </a:r>
          </a:p>
        </p:txBody>
      </p:sp>
      <p:sp>
        <p:nvSpPr>
          <p:cNvPr id="630" name="nx_case_bg_risultato"/>
          <p:cNvSpPr/>
          <p:nvPr/>
        </p:nvSpPr>
        <p:spPr>
          <a:xfrm>
            <a:off x="426709" y="4419489"/>
            <a:ext cx="11338276" cy="1341086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631" name="nx_case_bar_risultato"/>
          <p:cNvSpPr/>
          <p:nvPr/>
        </p:nvSpPr>
        <p:spPr>
          <a:xfrm>
            <a:off x="426709" y="4419489"/>
            <a:ext cx="97533" cy="1341086"/>
          </a:xfrm>
          <a:prstGeom prst="roundRect">
            <a:avLst>
              <a:gd name="adj" fmla="val 50000"/>
            </a:avLst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632" name="nx_case_label_risultato"/>
          <p:cNvSpPr txBox="1"/>
          <p:nvPr/>
        </p:nvSpPr>
        <p:spPr>
          <a:xfrm>
            <a:off x="731501" y="4541406"/>
            <a:ext cx="10972525" cy="27431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866" b="1" dirty="0">
                <a:solidFill>
                  <a:srgbClr val="1F1F2C"/>
                </a:solidFill>
                <a:cs typeface="Montserrat"/>
                <a:latin typeface="Inter"/>
              </a:rPr>
              <a:t>RISULTATO</a:t>
            </a:r>
          </a:p>
        </p:txBody>
      </p:sp>
      <p:sp>
        <p:nvSpPr>
          <p:cNvPr id="633" name="nx_risultato"/>
          <p:cNvSpPr txBox="1"/>
          <p:nvPr/>
        </p:nvSpPr>
        <p:spPr>
          <a:xfrm>
            <a:off x="731501" y="4846198"/>
            <a:ext cx="10972525" cy="822939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999" dirty="0">
                <a:solidFill>
                  <a:srgbClr val="1A1A1A"/>
                </a:solidFill>
                <a:cs typeface="DM Sans"/>
                <a:latin typeface="Inter"/>
              </a:rPr>
              <a:t>Testo sezione risultato.</a:t>
            </a:r>
          </a:p>
        </p:txBody>
      </p:sp>
      <p:sp>
        <p:nvSpPr>
          <p:cNvPr id="690" name="nx_ref"/>
          <p:cNvSpPr/>
          <p:nvPr/>
        </p:nvSpPr>
        <p:spPr>
          <a:xfrm>
            <a:off x="365750" y="6370160"/>
            <a:ext cx="2926006" cy="304792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/>
        </p:txBody>
      </p:sp>
      <p:sp>
        <p:nvSpPr>
          <p:cNvPr id="691" name="nx_page"/>
          <p:cNvSpPr txBox="1"/>
          <p:nvPr/>
        </p:nvSpPr>
        <p:spPr>
          <a:xfrm>
            <a:off x="9021854" y="6370160"/>
            <a:ext cx="1463003" cy="30479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endParaRPr>
              <a:latin typeface="Inter"/>
            </a:endParaRPr>
          </a:p>
        </p:txBody>
      </p:sp>
      <p:pic>
        <p:nvPicPr>
          <p:cNvPr id="6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0608" y="6370160"/>
            <a:ext cx="975335" cy="3047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REC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nx_recap_band"/>
          <p:cNvSpPr/>
          <p:nvPr/>
        </p:nvSpPr>
        <p:spPr>
          <a:xfrm>
            <a:off x="0" y="0"/>
            <a:ext cx="12191695" cy="426709"/>
          </a:xfrm>
          <a:prstGeom prst="rect">
            <a:avLst/>
          </a:prstGeom>
          <a:gradFill flip="none" rotWithShape="1">
            <a:gsLst>
              <a:gs pos="0">
                <a:srgbClr val="769E2E"/>
              </a:gs>
              <a:gs pos="100000">
                <a:srgbClr val="5C7E2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701" name="nx_recap_band_label"/>
          <p:cNvSpPr txBox="1"/>
          <p:nvPr/>
        </p:nvSpPr>
        <p:spPr>
          <a:xfrm>
            <a:off x="426709" y="0"/>
            <a:ext cx="11338276" cy="426709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933" b="1" dirty="0">
                <a:solidFill>
                  <a:srgbClr val="FFFFFF"/>
                </a:solidFill>
                <a:cs typeface="Montserrat"/>
                <a:latin typeface="Inter"/>
              </a:rPr>
              <a:t>RIEPILOGO</a:t>
            </a:r>
          </a:p>
        </p:txBody>
      </p:sp>
      <p:sp>
        <p:nvSpPr>
          <p:cNvPr id="702" name="nx_title"/>
          <p:cNvSpPr txBox="1"/>
          <p:nvPr/>
        </p:nvSpPr>
        <p:spPr>
          <a:xfrm>
            <a:off x="426709" y="609584"/>
            <a:ext cx="11338276" cy="67054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999" b="1" dirty="0">
                <a:solidFill>
                  <a:srgbClr val="1F1F2C"/>
                </a:solidFill>
                <a:cs typeface="Montserrat"/>
                <a:latin typeface="Inter"/>
              </a:rPr>
              <a:t>Cosa hai imparato</a:t>
            </a:r>
          </a:p>
        </p:txBody>
      </p:sp>
      <p:sp>
        <p:nvSpPr>
          <p:cNvPr id="703" name="nx_mini_bar"/>
          <p:cNvSpPr/>
          <p:nvPr/>
        </p:nvSpPr>
        <p:spPr>
          <a:xfrm>
            <a:off x="426709" y="1371565"/>
            <a:ext cx="914377" cy="48766"/>
          </a:xfrm>
          <a:prstGeom prst="roundRect">
            <a:avLst>
              <a:gd name="adj" fmla="val 50000"/>
            </a:avLst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710" name="nx_recap_check_710"/>
          <p:cNvSpPr/>
          <p:nvPr/>
        </p:nvSpPr>
        <p:spPr>
          <a:xfrm>
            <a:off x="548626" y="1767795"/>
            <a:ext cx="274313" cy="274313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711" name="nx_recap_checkmark_710"/>
          <p:cNvSpPr txBox="1"/>
          <p:nvPr/>
        </p:nvSpPr>
        <p:spPr>
          <a:xfrm>
            <a:off x="548626" y="1767795"/>
            <a:ext cx="274313" cy="274313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066" b="1" dirty="0">
                <a:solidFill>
                  <a:srgbClr val="FFFFFF"/>
                </a:solidFill>
                <a:cs typeface="Montserrat"/>
                <a:latin typeface="Inter"/>
              </a:rPr>
              <a:t>✓</a:t>
            </a:r>
          </a:p>
        </p:txBody>
      </p:sp>
      <p:sp>
        <p:nvSpPr>
          <p:cNvPr id="712" name="nx_recap_text_710"/>
          <p:cNvSpPr txBox="1"/>
          <p:nvPr/>
        </p:nvSpPr>
        <p:spPr>
          <a:xfrm>
            <a:off x="1036294" y="1737316"/>
            <a:ext cx="10728691" cy="48766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720" name="nx_recap_check_720"/>
          <p:cNvSpPr/>
          <p:nvPr/>
        </p:nvSpPr>
        <p:spPr>
          <a:xfrm>
            <a:off x="548626" y="2499297"/>
            <a:ext cx="274313" cy="274313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721" name="nx_recap_checkmark_720"/>
          <p:cNvSpPr txBox="1"/>
          <p:nvPr/>
        </p:nvSpPr>
        <p:spPr>
          <a:xfrm>
            <a:off x="548626" y="2499297"/>
            <a:ext cx="274313" cy="274313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066" b="1" dirty="0">
                <a:solidFill>
                  <a:srgbClr val="FFFFFF"/>
                </a:solidFill>
                <a:cs typeface="Montserrat"/>
                <a:latin typeface="Inter"/>
              </a:rPr>
              <a:t>✓</a:t>
            </a:r>
          </a:p>
        </p:txBody>
      </p:sp>
      <p:sp>
        <p:nvSpPr>
          <p:cNvPr id="722" name="nx_recap_text_720"/>
          <p:cNvSpPr txBox="1"/>
          <p:nvPr/>
        </p:nvSpPr>
        <p:spPr>
          <a:xfrm>
            <a:off x="1036294" y="2468818"/>
            <a:ext cx="10728691" cy="48766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730" name="nx_recap_check_730"/>
          <p:cNvSpPr/>
          <p:nvPr/>
        </p:nvSpPr>
        <p:spPr>
          <a:xfrm>
            <a:off x="548626" y="3230799"/>
            <a:ext cx="274313" cy="274313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731" name="nx_recap_checkmark_730"/>
          <p:cNvSpPr txBox="1"/>
          <p:nvPr/>
        </p:nvSpPr>
        <p:spPr>
          <a:xfrm>
            <a:off x="548626" y="3230799"/>
            <a:ext cx="274313" cy="274313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066" b="1" dirty="0">
                <a:solidFill>
                  <a:srgbClr val="FFFFFF"/>
                </a:solidFill>
                <a:cs typeface="Montserrat"/>
                <a:latin typeface="Inter"/>
              </a:rPr>
              <a:t>✓</a:t>
            </a:r>
          </a:p>
        </p:txBody>
      </p:sp>
      <p:sp>
        <p:nvSpPr>
          <p:cNvPr id="732" name="nx_recap_text_730"/>
          <p:cNvSpPr txBox="1"/>
          <p:nvPr/>
        </p:nvSpPr>
        <p:spPr>
          <a:xfrm>
            <a:off x="1036294" y="3200319"/>
            <a:ext cx="10728691" cy="48766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740" name="nx_recap_check_740"/>
          <p:cNvSpPr/>
          <p:nvPr/>
        </p:nvSpPr>
        <p:spPr>
          <a:xfrm>
            <a:off x="548626" y="3962300"/>
            <a:ext cx="274313" cy="274313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741" name="nx_recap_checkmark_740"/>
          <p:cNvSpPr txBox="1"/>
          <p:nvPr/>
        </p:nvSpPr>
        <p:spPr>
          <a:xfrm>
            <a:off x="548626" y="3962300"/>
            <a:ext cx="274313" cy="274313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066" b="1" dirty="0">
                <a:solidFill>
                  <a:srgbClr val="FFFFFF"/>
                </a:solidFill>
                <a:cs typeface="Montserrat"/>
                <a:latin typeface="Inter"/>
              </a:rPr>
              <a:t>✓</a:t>
            </a:r>
          </a:p>
        </p:txBody>
      </p:sp>
      <p:sp>
        <p:nvSpPr>
          <p:cNvPr id="742" name="nx_recap_text_740"/>
          <p:cNvSpPr txBox="1"/>
          <p:nvPr/>
        </p:nvSpPr>
        <p:spPr>
          <a:xfrm>
            <a:off x="1036294" y="3931821"/>
            <a:ext cx="10728691" cy="48766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750" name="nx_recap_check_750"/>
          <p:cNvSpPr/>
          <p:nvPr/>
        </p:nvSpPr>
        <p:spPr>
          <a:xfrm>
            <a:off x="548626" y="4693802"/>
            <a:ext cx="274313" cy="274313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751" name="nx_recap_checkmark_750"/>
          <p:cNvSpPr txBox="1"/>
          <p:nvPr/>
        </p:nvSpPr>
        <p:spPr>
          <a:xfrm>
            <a:off x="548626" y="4693802"/>
            <a:ext cx="274313" cy="274313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066" b="1" dirty="0">
                <a:solidFill>
                  <a:srgbClr val="FFFFFF"/>
                </a:solidFill>
                <a:cs typeface="Montserrat"/>
                <a:latin typeface="Inter"/>
              </a:rPr>
              <a:t>✓</a:t>
            </a:r>
          </a:p>
        </p:txBody>
      </p:sp>
      <p:sp>
        <p:nvSpPr>
          <p:cNvPr id="752" name="nx_recap_text_750"/>
          <p:cNvSpPr txBox="1"/>
          <p:nvPr/>
        </p:nvSpPr>
        <p:spPr>
          <a:xfrm>
            <a:off x="1036294" y="4663323"/>
            <a:ext cx="10728691" cy="48766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790" name="nx_module_ref"/>
          <p:cNvSpPr/>
          <p:nvPr/>
        </p:nvSpPr>
        <p:spPr>
          <a:xfrm>
            <a:off x="365750" y="6370160"/>
            <a:ext cx="2926006" cy="304792"/>
          </a:xfrm>
          <a:prstGeom prst="roundRect">
            <a:avLst>
              <a:gd name="adj" fmla="val 50000"/>
            </a:avLst>
          </a:prstGeom>
          <a:solidFill>
            <a:srgbClr val="EEF7E0"/>
          </a:solidFill>
          <a:ln>
            <a:noFill/>
          </a:ln>
        </p:spPr>
        <p:txBody>
          <a:bodyPr wrap="square" anchor="ctr"/>
          <a:lstStyle/>
          <a:p/>
        </p:txBody>
      </p:sp>
      <p:sp>
        <p:nvSpPr>
          <p:cNvPr id="791" name="nx_page"/>
          <p:cNvSpPr txBox="1"/>
          <p:nvPr/>
        </p:nvSpPr>
        <p:spPr>
          <a:xfrm>
            <a:off x="9021854" y="6370160"/>
            <a:ext cx="1463003" cy="30479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endParaRPr>
              <a:latin typeface="Inter"/>
            </a:endParaRPr>
          </a:p>
        </p:txBody>
      </p:sp>
      <p:pic>
        <p:nvPicPr>
          <p:cNvPr id="7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0608" y="6370160"/>
            <a:ext cx="975335" cy="3047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X CLOS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nx_bg_grad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60000">
                <a:srgbClr val="FFFFFF"/>
              </a:gs>
              <a:gs pos="100000">
                <a:srgbClr val="FCE4EC"/>
              </a:gs>
            </a:gsLst>
            <a:lin ang="8100000" scaled="1"/>
          </a:gra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801" name="nx_band_top"/>
          <p:cNvSpPr/>
          <p:nvPr/>
        </p:nvSpPr>
        <p:spPr>
          <a:xfrm>
            <a:off x="0" y="0"/>
            <a:ext cx="12191695" cy="335271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769E2E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802" name="nx_blob"/>
          <p:cNvSpPr/>
          <p:nvPr/>
        </p:nvSpPr>
        <p:spPr>
          <a:xfrm>
            <a:off x="8534186" y="3962300"/>
            <a:ext cx="3352716" cy="2743131"/>
          </a:xfrm>
          <a:prstGeom prst="ellipse">
            <a:avLst/>
          </a:prstGeom>
          <a:solidFill>
            <a:srgbClr val="FCE4EC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803" name="nx_blob_2"/>
          <p:cNvSpPr/>
          <p:nvPr/>
        </p:nvSpPr>
        <p:spPr>
          <a:xfrm>
            <a:off x="304792" y="4267093"/>
            <a:ext cx="2133546" cy="2133546"/>
          </a:xfrm>
          <a:prstGeom prst="ellipse">
            <a:avLst/>
          </a:prstGeom>
          <a:solidFill>
            <a:srgbClr val="E1F0FF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804" name="nx_title"/>
          <p:cNvSpPr txBox="1"/>
          <p:nvPr/>
        </p:nvSpPr>
        <p:spPr>
          <a:xfrm>
            <a:off x="914377" y="2133546"/>
            <a:ext cx="10362940" cy="1463003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5599" b="1" dirty="0">
                <a:solidFill>
                  <a:srgbClr val="1F1F2C"/>
                </a:solidFill>
                <a:cs typeface="Montserrat"/>
                <a:latin typeface="Inter"/>
              </a:rPr>
              <a:t>Grazie</a:t>
            </a:r>
          </a:p>
        </p:txBody>
      </p:sp>
      <p:pic>
        <p:nvPicPr>
          <p:cNvPr id="805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70" y="4023259"/>
            <a:ext cx="1828754" cy="487667"/>
          </a:xfrm>
          <a:prstGeom prst="rect">
            <a:avLst/>
          </a:prstGeom>
        </p:spPr>
      </p:pic>
      <p:sp>
        <p:nvSpPr>
          <p:cNvPr id="806" name="nx_tagline"/>
          <p:cNvSpPr txBox="1"/>
          <p:nvPr/>
        </p:nvSpPr>
        <p:spPr>
          <a:xfrm>
            <a:off x="914377" y="4632844"/>
            <a:ext cx="10362940" cy="426709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1466" i="1" dirty="0">
                <a:solidFill>
                  <a:srgbClr val="6B7280"/>
                </a:solidFill>
                <a:cs typeface="DM Sans"/>
                <a:latin typeface="Inter"/>
              </a:rPr>
              <a:t>Formazione Globale</a:t>
            </a:r>
          </a:p>
        </p:txBody>
      </p:sp>
      <p:sp>
        <p:nvSpPr>
          <p:cNvPr id="807" name="nx_dot1"/>
          <p:cNvSpPr/>
          <p:nvPr/>
        </p:nvSpPr>
        <p:spPr>
          <a:xfrm>
            <a:off x="5730096" y="5303387"/>
            <a:ext cx="195067" cy="195067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808" name="nx_dot2"/>
          <p:cNvSpPr/>
          <p:nvPr/>
        </p:nvSpPr>
        <p:spPr>
          <a:xfrm>
            <a:off x="5998314" y="5303387"/>
            <a:ext cx="195067" cy="195067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  <p:sp>
        <p:nvSpPr>
          <p:cNvPr id="809" name="nx_dot3"/>
          <p:cNvSpPr/>
          <p:nvPr/>
        </p:nvSpPr>
        <p:spPr>
          <a:xfrm>
            <a:off x="6266531" y="5303387"/>
            <a:ext cx="195067" cy="195067"/>
          </a:xfrm>
          <a:prstGeom prst="ellipse">
            <a:avLst/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>
              <a:latin typeface="Inter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>
        <a:defRPr sz="3400" b="1">
          <a:solidFill>
            <a:srgbClr val="1F1F2C"/>
          </a:solidFill>
          <a:latin typeface="Montserrat"/>
        </a:defRPr>
      </a:lvl1pPr>
    </p:titleStyle>
    <p:bodyStyle>
      <a:lvl1pPr algn="l">
        <a:defRPr sz="1800">
          <a:solidFill>
            <a:srgbClr val="1A1A1A"/>
          </a:solidFill>
          <a:latin typeface="DM Sans"/>
        </a:defRPr>
      </a:lvl1pPr>
    </p:bodyStyle>
    <p:otherStyle>
      <a:defPPr algn="l">
        <a:defRPr sz="1600">
          <a:latin typeface="DM Sans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nx_band_top"/>
          <p:cNvSpPr/>
          <p:nvPr/>
        </p:nvSpPr>
        <p:spPr>
          <a:xfrm>
            <a:off x="0" y="0"/>
            <a:ext cx="18288000" cy="59436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769E2E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1" name="nx_blob_bl"/>
          <p:cNvSpPr/>
          <p:nvPr/>
        </p:nvSpPr>
        <p:spPr>
          <a:xfrm>
            <a:off x="731520" y="6675120"/>
            <a:ext cx="2926080" cy="2926080"/>
          </a:xfrm>
          <a:prstGeom prst="ellipse">
            <a:avLst/>
          </a:prstGeom>
          <a:solidFill>
            <a:srgbClr val="E1F0FF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2" name="nx_blob_tr"/>
          <p:cNvSpPr/>
          <p:nvPr/>
        </p:nvSpPr>
        <p:spPr>
          <a:xfrm>
            <a:off x="15087600" y="914400"/>
            <a:ext cx="2560320" cy="2560320"/>
          </a:xfrm>
          <a:prstGeom prst="ellipse">
            <a:avLst/>
          </a:prstGeom>
          <a:solidFill>
            <a:srgbClr val="FCE4EC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3" name="nx_title"/>
          <p:cNvSpPr txBox="1"/>
          <p:nvPr/>
        </p:nvSpPr>
        <p:spPr>
          <a:xfrm>
            <a:off x="1371600" y="3108960"/>
            <a:ext cx="15544800" cy="2743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6000" b="1" dirty="0">
                <a:solidFill>
                  <a:srgbClr val="1F1F2C"/>
                </a:solidFill>
                <a:latin typeface="Montserrat"/>
                <a:cs typeface="Montserrat"/>
              </a:rPr>
              <a:t>Primo Soccorso — Gruppi B e C</a:t>
            </a:r>
          </a:p>
        </p:txBody>
      </p:sp>
      <p:sp>
        <p:nvSpPr>
          <p:cNvPr id="104" name="nx_subtitle"/>
          <p:cNvSpPr txBox="1"/>
          <p:nvPr/>
        </p:nvSpPr>
        <p:spPr>
          <a:xfrm>
            <a:off x="1371600" y="6035040"/>
            <a:ext cx="155448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2200" dirty="0">
                <a:solidFill>
                  <a:srgbClr val="6B7280"/>
                </a:solidFill>
                <a:latin typeface="DM Sans"/>
                <a:cs typeface="DM Sans"/>
              </a:rPr>
              <a:t>Formazione 8 ore — D.Lgs 81/08 art. 45 + DM 388/2003</a:t>
            </a:r>
          </a:p>
        </p:txBody>
      </p:sp>
      <p:pic>
        <p:nvPicPr>
          <p:cNvPr id="105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680960"/>
            <a:ext cx="2743200" cy="731520"/>
          </a:xfrm>
          <a:prstGeom prst="rect">
            <a:avLst/>
          </a:prstGeom>
        </p:spPr>
      </p:pic>
      <p:sp>
        <p:nvSpPr>
          <p:cNvPr id="106" name="nx_dot1"/>
          <p:cNvSpPr/>
          <p:nvPr/>
        </p:nvSpPr>
        <p:spPr>
          <a:xfrm>
            <a:off x="8595360" y="8732520"/>
            <a:ext cx="292608" cy="292608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7" name="nx_dot2"/>
          <p:cNvSpPr/>
          <p:nvPr/>
        </p:nvSpPr>
        <p:spPr>
          <a:xfrm>
            <a:off x="8997696" y="8732520"/>
            <a:ext cx="292608" cy="292608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8" name="nx_dot3"/>
          <p:cNvSpPr/>
          <p:nvPr/>
        </p:nvSpPr>
        <p:spPr>
          <a:xfrm>
            <a:off x="9400032" y="8732520"/>
            <a:ext cx="292608" cy="292608"/>
          </a:xfrm>
          <a:prstGeom prst="ellipse">
            <a:avLst/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1" name="nx_title"/>
          <p:cNvSpPr txBox="1"/>
          <p:nvPr/>
        </p:nvSpPr>
        <p:spPr>
          <a:xfrm>
            <a:off x="640080" y="54864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400" b="1" dirty="0">
                <a:solidFill>
                  <a:srgbClr val="1F1F2C"/>
                </a:solidFill>
                <a:latin typeface="Montserrat"/>
                <a:cs typeface="Montserrat"/>
              </a:rPr>
              <a:t>Obblighi del Datore di Lavoro</a:t>
            </a:r>
          </a:p>
        </p:txBody>
      </p:sp>
      <p:sp>
        <p:nvSpPr>
          <p:cNvPr id="202" name="nx_mini_bar"/>
          <p:cNvSpPr/>
          <p:nvPr/>
        </p:nvSpPr>
        <p:spPr>
          <a:xfrm>
            <a:off x="640080" y="16916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3" name="nx_body"/>
          <p:cNvSpPr txBox="1"/>
          <p:nvPr/>
        </p:nvSpPr>
        <p:spPr>
          <a:xfrm>
            <a:off x="640080" y="2103120"/>
            <a:ext cx="17007840" cy="7223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Designare un numero adeguato di lavoratori incaricati di primo soccorso, prevenzione incendi ed evacuazione.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Fornire formazione DM 388/2003 a tutti gli addetti, con aggiornamento triennale obbligatorio.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Dotare l’azienda di cassetta primo soccorso conforme (Allegato 1 DM 388) o pacchetto medicazione.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Garantire l’efficienza della chiamata di emergenza 112 NUE in ogni postazione di lavoro.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Verificare periodicamente la presenza e l’integrità dei presidi sanitari obbligatori.</a:t>
            </a:r>
          </a:p>
        </p:txBody>
      </p:sp>
      <p:sp>
        <p:nvSpPr>
          <p:cNvPr id="2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A8255A"/>
                </a:solidFill>
                <a:latin typeface="DM Sans"/>
                <a:cs typeface="DM Sans"/>
              </a:rPr>
              <a:t>Art. 45 D.Lgs 81/08 — DM 388/2003</a:t>
            </a:r>
          </a:p>
        </p:txBody>
      </p:sp>
      <p:sp>
        <p:nvSpPr>
          <p:cNvPr id="2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r>
              <a:rPr lang="it-IT" sz="1100" dirty="0">
                <a:solidFill>
                  <a:srgbClr val="6B7280"/>
                </a:solidFill>
                <a:latin typeface="DM Sans"/>
                <a:cs typeface="DM Sans"/>
              </a:rPr>
              <a:t>2 / 8</a:t>
            </a:r>
          </a:p>
        </p:txBody>
      </p:sp>
      <p:pic>
        <p:nvPicPr>
          <p:cNvPr id="2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01" name="nx_title"/>
          <p:cNvSpPr txBox="1"/>
          <p:nvPr/>
        </p:nvSpPr>
        <p:spPr>
          <a:xfrm>
            <a:off x="640080" y="54864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400" b="1" dirty="0">
                <a:solidFill>
                  <a:srgbClr val="1F1F2C"/>
                </a:solidFill>
                <a:latin typeface="Montserrat"/>
                <a:cs typeface="Montserrat"/>
              </a:rPr>
              <a:t>Dispositivi di Protezione Individuale</a:t>
            </a:r>
          </a:p>
        </p:txBody>
      </p:sp>
      <p:sp>
        <p:nvSpPr>
          <p:cNvPr id="302" name="nx_mini_bar"/>
          <p:cNvSpPr/>
          <p:nvPr/>
        </p:nvSpPr>
        <p:spPr>
          <a:xfrm>
            <a:off x="640080" y="16916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03" name="nx_body"/>
          <p:cNvSpPr txBox="1"/>
          <p:nvPr/>
        </p:nvSpPr>
        <p:spPr>
          <a:xfrm>
            <a:off x="640080" y="2103120"/>
            <a:ext cx="941832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I DPI sono l’ultima barriera difensiva quando i rischi non possono essere eliminati alla fonte.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Devono essere marcati CE, idonei alla mansione e mantenuti in efficienza.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Il lavoratore deve utilizzarli secondo le istruzioni e segnalarne difetti o usura.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Categoria III: DPI per rischi gravi o mortali — formazione e addestramento obbligatori.</a:t>
            </a:r>
          </a:p>
        </p:txBody>
      </p:sp>
      <p:sp>
        <p:nvSpPr>
          <p:cNvPr id="304" name="nx_image_box"/>
          <p:cNvSpPr/>
          <p:nvPr/>
        </p:nvSpPr>
        <p:spPr>
          <a:xfrm>
            <a:off x="10424160" y="2103120"/>
            <a:ext cx="7223760" cy="58521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 wrap="square" anchor="ctr"/>
          <a:lstStyle/>
          <a:p>
            <a:pPr algn="ctr"/>
            <a:r>
              <a:rPr lang="it-IT" sz="1400" i="1" dirty="0">
                <a:solidFill>
                  <a:srgbClr val="6B7280"/>
                </a:solidFill>
                <a:latin typeface="DM Sans"/>
              </a:rPr>
              <a:t>[ AUTO_SHAPE — immagine inserita dinamicamente ]</a:t>
            </a:r>
          </a:p>
        </p:txBody>
      </p:sp>
      <p:sp>
        <p:nvSpPr>
          <p:cNvPr id="305" name="nx_caption"/>
          <p:cNvSpPr txBox="1"/>
          <p:nvPr/>
        </p:nvSpPr>
        <p:spPr>
          <a:xfrm>
            <a:off x="10424160" y="8092440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1200" i="1" dirty="0">
                <a:solidFill>
                  <a:srgbClr val="6B7280"/>
                </a:solidFill>
                <a:latin typeface="DM Sans"/>
                <a:cs typeface="DM Sans"/>
              </a:rPr>
              <a:t>DPI obbligatori cat. III</a:t>
            </a:r>
          </a:p>
        </p:txBody>
      </p:sp>
      <p:sp>
        <p:nvSpPr>
          <p:cNvPr id="3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A8255A"/>
                </a:solidFill>
                <a:latin typeface="DM Sans"/>
                <a:cs typeface="DM Sans"/>
              </a:rPr>
              <a:t>Art. 74-79 D.Lgs 81/08</a:t>
            </a:r>
          </a:p>
        </p:txBody>
      </p:sp>
      <p:sp>
        <p:nvSpPr>
          <p:cNvPr id="3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r>
              <a:rPr lang="it-IT" sz="1100" dirty="0">
                <a:solidFill>
                  <a:srgbClr val="6B7280"/>
                </a:solidFill>
                <a:latin typeface="DM Sans"/>
                <a:cs typeface="DM Sans"/>
              </a:rPr>
              <a:t>3 / 8</a:t>
            </a:r>
          </a:p>
        </p:txBody>
      </p:sp>
      <p:pic>
        <p:nvPicPr>
          <p:cNvPr id="3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01" name="nx_title"/>
          <p:cNvSpPr txBox="1"/>
          <p:nvPr/>
        </p:nvSpPr>
        <p:spPr>
          <a:xfrm>
            <a:off x="640080" y="54864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400" b="1" dirty="0">
                <a:solidFill>
                  <a:srgbClr val="1F1F2C"/>
                </a:solidFill>
                <a:latin typeface="Montserrat"/>
                <a:cs typeface="Montserrat"/>
              </a:rPr>
              <a:t>Flusso della Valutazione dei Rischi</a:t>
            </a:r>
          </a:p>
        </p:txBody>
      </p:sp>
      <p:sp>
        <p:nvSpPr>
          <p:cNvPr id="402" name="nx_mini_bar"/>
          <p:cNvSpPr/>
          <p:nvPr/>
        </p:nvSpPr>
        <p:spPr>
          <a:xfrm>
            <a:off x="640080" y="16916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03" name="nx_diagram_box"/>
          <p:cNvSpPr/>
          <p:nvPr/>
        </p:nvSpPr>
        <p:spPr>
          <a:xfrm>
            <a:off x="1371600" y="2103120"/>
            <a:ext cx="15544800" cy="612648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 wrap="square" anchor="ctr"/>
          <a:lstStyle/>
          <a:p>
            <a:pPr algn="ctr"/>
            <a:r>
              <a:rPr lang="it-IT" sz="1800" i="1" dirty="0">
                <a:solidFill>
                  <a:srgbClr val="6B7280"/>
                </a:solidFill>
                <a:latin typeface="DM Sans"/>
              </a:rPr>
              <a:t>[ AUTO_SHAPE — diagramma SVG inserito dinamicamente ]</a:t>
            </a:r>
          </a:p>
        </p:txBody>
      </p:sp>
      <p:sp>
        <p:nvSpPr>
          <p:cNvPr id="404" name="nx_caption"/>
          <p:cNvSpPr txBox="1"/>
          <p:nvPr/>
        </p:nvSpPr>
        <p:spPr>
          <a:xfrm>
            <a:off x="1371600" y="8366760"/>
            <a:ext cx="15544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1300" i="1" dirty="0">
                <a:solidFill>
                  <a:srgbClr val="6B7280"/>
                </a:solidFill>
                <a:latin typeface="DM Sans"/>
                <a:cs typeface="DM Sans"/>
              </a:rPr>
              <a:t>Figura 1 — Identificazione → valutazione → misure → monitoraggio (Art. 28-29 D.Lgs 81/08)</a:t>
            </a:r>
          </a:p>
        </p:txBody>
      </p:sp>
      <p:sp>
        <p:nvSpPr>
          <p:cNvPr id="4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A8255A"/>
                </a:solidFill>
                <a:latin typeface="DM Sans"/>
                <a:cs typeface="DM Sans"/>
              </a:rPr>
              <a:t>Art. 28-29 D.Lgs 81/08</a:t>
            </a:r>
          </a:p>
        </p:txBody>
      </p:sp>
      <p:sp>
        <p:nvSpPr>
          <p:cNvPr id="4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r>
              <a:rPr lang="it-IT" sz="1100" dirty="0">
                <a:solidFill>
                  <a:srgbClr val="6B7280"/>
                </a:solidFill>
                <a:latin typeface="DM Sans"/>
                <a:cs typeface="DM Sans"/>
              </a:rPr>
              <a:t>4 / 8</a:t>
            </a:r>
          </a:p>
        </p:txBody>
      </p:sp>
      <p:pic>
        <p:nvPicPr>
          <p:cNvPr id="4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01" name="nx_question_box"/>
          <p:cNvSpPr/>
          <p:nvPr/>
        </p:nvSpPr>
        <p:spPr>
          <a:xfrm>
            <a:off x="640080" y="548640"/>
            <a:ext cx="17007840" cy="14173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02" name="nx_title"/>
          <p:cNvSpPr txBox="1"/>
          <p:nvPr/>
        </p:nvSpPr>
        <p:spPr>
          <a:xfrm>
            <a:off x="914400" y="548640"/>
            <a:ext cx="1645920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2400" b="1" dirty="0">
                <a:solidFill>
                  <a:srgbClr val="1F1F2C"/>
                </a:solidFill>
                <a:latin typeface="Montserrat"/>
                <a:cs typeface="Montserrat"/>
              </a:rPr>
              <a:t>Chi nomina il Responsabile del Servizio di Prevenzione e Protezione?</a:t>
            </a:r>
          </a:p>
        </p:txBody>
      </p:sp>
      <p:sp>
        <p:nvSpPr>
          <p:cNvPr id="510" name="nx_option_card_a"/>
          <p:cNvSpPr/>
          <p:nvPr/>
        </p:nvSpPr>
        <p:spPr>
          <a:xfrm>
            <a:off x="2286000" y="233172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11" name="nx_letter_a"/>
          <p:cNvSpPr/>
          <p:nvPr/>
        </p:nvSpPr>
        <p:spPr>
          <a:xfrm>
            <a:off x="2651760" y="258318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12" name="nx_letter_text_a"/>
          <p:cNvSpPr txBox="1"/>
          <p:nvPr/>
        </p:nvSpPr>
        <p:spPr>
          <a:xfrm>
            <a:off x="2651760" y="25831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</a:p>
        </p:txBody>
      </p:sp>
      <p:sp>
        <p:nvSpPr>
          <p:cNvPr id="513" name="nx_option_a"/>
          <p:cNvSpPr txBox="1"/>
          <p:nvPr/>
        </p:nvSpPr>
        <p:spPr>
          <a:xfrm>
            <a:off x="3657600" y="246888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700" dirty="0">
                <a:solidFill>
                  <a:srgbClr val="1A1A1A"/>
                </a:solidFill>
                <a:latin typeface="DM Sans"/>
                <a:cs typeface="DM Sans"/>
              </a:rPr>
              <a:t>Il Rappresentante dei Lavoratori per la Sicurezza (RLS).</a:t>
            </a:r>
          </a:p>
        </p:txBody>
      </p:sp>
      <p:sp>
        <p:nvSpPr>
          <p:cNvPr id="520" name="nx_option_card_b"/>
          <p:cNvSpPr/>
          <p:nvPr/>
        </p:nvSpPr>
        <p:spPr>
          <a:xfrm>
            <a:off x="2286000" y="374904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21" name="nx_letter_b"/>
          <p:cNvSpPr/>
          <p:nvPr/>
        </p:nvSpPr>
        <p:spPr>
          <a:xfrm>
            <a:off x="2651760" y="400050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22" name="nx_letter_text_b"/>
          <p:cNvSpPr txBox="1"/>
          <p:nvPr/>
        </p:nvSpPr>
        <p:spPr>
          <a:xfrm>
            <a:off x="2651760" y="40005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B</a:t>
            </a:r>
          </a:p>
        </p:txBody>
      </p:sp>
      <p:sp>
        <p:nvSpPr>
          <p:cNvPr id="523" name="nx_option_b"/>
          <p:cNvSpPr txBox="1"/>
          <p:nvPr/>
        </p:nvSpPr>
        <p:spPr>
          <a:xfrm>
            <a:off x="3657600" y="388620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700" dirty="0">
                <a:solidFill>
                  <a:srgbClr val="1A1A1A"/>
                </a:solidFill>
                <a:latin typeface="DM Sans"/>
                <a:cs typeface="DM Sans"/>
              </a:rPr>
              <a:t>Il Datore di Lavoro, eventualmente assumendone direttamente i compiti nei casi previsti.</a:t>
            </a:r>
          </a:p>
        </p:txBody>
      </p:sp>
      <p:sp>
        <p:nvSpPr>
          <p:cNvPr id="530" name="nx_option_card_c"/>
          <p:cNvSpPr/>
          <p:nvPr/>
        </p:nvSpPr>
        <p:spPr>
          <a:xfrm>
            <a:off x="2286000" y="516636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31" name="nx_letter_c"/>
          <p:cNvSpPr/>
          <p:nvPr/>
        </p:nvSpPr>
        <p:spPr>
          <a:xfrm>
            <a:off x="2651760" y="541782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32" name="nx_letter_text_c"/>
          <p:cNvSpPr txBox="1"/>
          <p:nvPr/>
        </p:nvSpPr>
        <p:spPr>
          <a:xfrm>
            <a:off x="2651760" y="54178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C</a:t>
            </a:r>
          </a:p>
        </p:txBody>
      </p:sp>
      <p:sp>
        <p:nvSpPr>
          <p:cNvPr id="533" name="nx_option_c"/>
          <p:cNvSpPr txBox="1"/>
          <p:nvPr/>
        </p:nvSpPr>
        <p:spPr>
          <a:xfrm>
            <a:off x="3657600" y="530352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700" dirty="0">
                <a:solidFill>
                  <a:srgbClr val="1A1A1A"/>
                </a:solidFill>
                <a:latin typeface="DM Sans"/>
                <a:cs typeface="DM Sans"/>
              </a:rPr>
              <a:t>L’Ispettorato Territoriale del Lavoro.</a:t>
            </a:r>
          </a:p>
        </p:txBody>
      </p:sp>
      <p:sp>
        <p:nvSpPr>
          <p:cNvPr id="540" name="nx_option_card_d"/>
          <p:cNvSpPr/>
          <p:nvPr/>
        </p:nvSpPr>
        <p:spPr>
          <a:xfrm>
            <a:off x="2286000" y="658368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41" name="nx_letter_d"/>
          <p:cNvSpPr/>
          <p:nvPr/>
        </p:nvSpPr>
        <p:spPr>
          <a:xfrm>
            <a:off x="2651760" y="683514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42" name="nx_letter_text_d"/>
          <p:cNvSpPr txBox="1"/>
          <p:nvPr/>
        </p:nvSpPr>
        <p:spPr>
          <a:xfrm>
            <a:off x="2651760" y="68351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D</a:t>
            </a:r>
          </a:p>
        </p:txBody>
      </p:sp>
      <p:sp>
        <p:nvSpPr>
          <p:cNvPr id="543" name="nx_option_d"/>
          <p:cNvSpPr txBox="1"/>
          <p:nvPr/>
        </p:nvSpPr>
        <p:spPr>
          <a:xfrm>
            <a:off x="3657600" y="672084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700" dirty="0">
                <a:solidFill>
                  <a:srgbClr val="1A1A1A"/>
                </a:solidFill>
                <a:latin typeface="DM Sans"/>
                <a:cs typeface="DM Sans"/>
              </a:rPr>
              <a:t>Il Medico Competente in accordo con il Consiglio di Amministrazione.</a:t>
            </a:r>
          </a:p>
        </p:txBody>
      </p:sp>
      <p:sp>
        <p:nvSpPr>
          <p:cNvPr id="550" name="nx_correct_bar"/>
          <p:cNvSpPr/>
          <p:nvPr/>
        </p:nvSpPr>
        <p:spPr>
          <a:xfrm>
            <a:off x="0" y="9006840"/>
            <a:ext cx="18288000" cy="128016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A8255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51" name="nx_correct_marker"/>
          <p:cNvSpPr txBox="1"/>
          <p:nvPr/>
        </p:nvSpPr>
        <p:spPr>
          <a:xfrm>
            <a:off x="640080" y="9006840"/>
            <a:ext cx="1700784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/>
        </p:txBody>
      </p:sp>
      <p:pic>
        <p:nvPicPr>
          <p:cNvPr id="55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813816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nx_case_band"/>
          <p:cNvSpPr/>
          <p:nvPr/>
        </p:nvSpPr>
        <p:spPr>
          <a:xfrm>
            <a:off x="0" y="0"/>
            <a:ext cx="18288000" cy="64008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A8255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01" name="nx_case_band_label"/>
          <p:cNvSpPr txBox="1"/>
          <p:nvPr/>
        </p:nvSpPr>
        <p:spPr>
          <a:xfrm>
            <a:off x="640080" y="0"/>
            <a:ext cx="170078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400" b="1" dirty="0">
                <a:solidFill>
                  <a:srgbClr val="FFFFFF"/>
                </a:solidFill>
                <a:latin typeface="Montserrat"/>
                <a:cs typeface="Montserrat"/>
              </a:rPr>
              <a:t>CASO STUDIO</a:t>
            </a:r>
          </a:p>
        </p:txBody>
      </p:sp>
      <p:sp>
        <p:nvSpPr>
          <p:cNvPr id="602" name="nx_title"/>
          <p:cNvSpPr txBox="1"/>
          <p:nvPr/>
        </p:nvSpPr>
        <p:spPr>
          <a:xfrm>
            <a:off x="640080" y="91440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000" b="1" dirty="0">
                <a:solidFill>
                  <a:srgbClr val="1F1F2C"/>
                </a:solidFill>
                <a:latin typeface="Montserrat"/>
                <a:cs typeface="Montserrat"/>
              </a:rPr>
              <a:t>Infortunio in magazzino: caduta da scala portatile</a:t>
            </a:r>
          </a:p>
        </p:txBody>
      </p:sp>
      <p:sp>
        <p:nvSpPr>
          <p:cNvPr id="610" name="nx_case_bg_situazione"/>
          <p:cNvSpPr/>
          <p:nvPr/>
        </p:nvSpPr>
        <p:spPr>
          <a:xfrm>
            <a:off x="640080" y="2148840"/>
            <a:ext cx="17007840" cy="201168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11" name="nx_case_bar_situazione"/>
          <p:cNvSpPr/>
          <p:nvPr/>
        </p:nvSpPr>
        <p:spPr>
          <a:xfrm>
            <a:off x="640080" y="214884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12" name="nx_case_label_situazione"/>
          <p:cNvSpPr txBox="1"/>
          <p:nvPr/>
        </p:nvSpPr>
        <p:spPr>
          <a:xfrm>
            <a:off x="1097280" y="2331720"/>
            <a:ext cx="1645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300" b="1" dirty="0">
                <a:solidFill>
                  <a:srgbClr val="C82E6E"/>
                </a:solidFill>
                <a:latin typeface="Montserrat"/>
                <a:cs typeface="Montserrat"/>
              </a:rPr>
              <a:t>SITUAZIONE</a:t>
            </a:r>
          </a:p>
        </p:txBody>
      </p:sp>
      <p:sp>
        <p:nvSpPr>
          <p:cNvPr id="613" name="nx_situazione"/>
          <p:cNvSpPr txBox="1"/>
          <p:nvPr/>
        </p:nvSpPr>
        <p:spPr>
          <a:xfrm>
            <a:off x="1097280" y="2788920"/>
            <a:ext cx="16459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1500" dirty="0">
                <a:solidFill>
                  <a:srgbClr val="1A1A1A"/>
                </a:solidFill>
                <a:latin typeface="DM Sans"/>
                <a:cs typeface="DM Sans"/>
              </a:rPr>
              <a:t>Un magazziniere utilizza una scala doppia non vincolata per prelevare materiale a 3 metri. La scala scivola e l’operatore cade riportando una frattura al polso.</a:t>
            </a:r>
          </a:p>
        </p:txBody>
      </p:sp>
      <p:sp>
        <p:nvSpPr>
          <p:cNvPr id="620" name="nx_case_bg_azione"/>
          <p:cNvSpPr/>
          <p:nvPr/>
        </p:nvSpPr>
        <p:spPr>
          <a:xfrm>
            <a:off x="640080" y="4389120"/>
            <a:ext cx="17007840" cy="201168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21" name="nx_case_bar_azione"/>
          <p:cNvSpPr/>
          <p:nvPr/>
        </p:nvSpPr>
        <p:spPr>
          <a:xfrm>
            <a:off x="640080" y="438912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22" name="nx_case_label_azione"/>
          <p:cNvSpPr txBox="1"/>
          <p:nvPr/>
        </p:nvSpPr>
        <p:spPr>
          <a:xfrm>
            <a:off x="1097280" y="4572000"/>
            <a:ext cx="1645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300" b="1" dirty="0">
                <a:solidFill>
                  <a:srgbClr val="769E2E"/>
                </a:solidFill>
                <a:latin typeface="Montserrat"/>
                <a:cs typeface="Montserrat"/>
              </a:rPr>
              <a:t>AZIONE</a:t>
            </a:r>
          </a:p>
        </p:txBody>
      </p:sp>
      <p:sp>
        <p:nvSpPr>
          <p:cNvPr id="623" name="nx_azione"/>
          <p:cNvSpPr txBox="1"/>
          <p:nvPr/>
        </p:nvSpPr>
        <p:spPr>
          <a:xfrm>
            <a:off x="1097280" y="5029200"/>
            <a:ext cx="16459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1500" dirty="0">
                <a:solidFill>
                  <a:srgbClr val="1A1A1A"/>
                </a:solidFill>
                <a:latin typeface="DM Sans"/>
                <a:cs typeface="DM Sans"/>
              </a:rPr>
              <a:t>L’azienda aggiorna il DVR, sostituisce le scale portatili con trabattelli certificati EN 1004 e organizza formazione specifica sul lavoro in quota ex Art. 107.</a:t>
            </a:r>
          </a:p>
        </p:txBody>
      </p:sp>
      <p:sp>
        <p:nvSpPr>
          <p:cNvPr id="630" name="nx_case_bg_risultato"/>
          <p:cNvSpPr/>
          <p:nvPr/>
        </p:nvSpPr>
        <p:spPr>
          <a:xfrm>
            <a:off x="640080" y="6629400"/>
            <a:ext cx="17007840" cy="201168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31" name="nx_case_bar_risultato"/>
          <p:cNvSpPr/>
          <p:nvPr/>
        </p:nvSpPr>
        <p:spPr>
          <a:xfrm>
            <a:off x="640080" y="662940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32" name="nx_case_label_risultato"/>
          <p:cNvSpPr txBox="1"/>
          <p:nvPr/>
        </p:nvSpPr>
        <p:spPr>
          <a:xfrm>
            <a:off x="1097280" y="6812280"/>
            <a:ext cx="1645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300" b="1" dirty="0">
                <a:solidFill>
                  <a:srgbClr val="1F1F2C"/>
                </a:solidFill>
                <a:latin typeface="Montserrat"/>
                <a:cs typeface="Montserrat"/>
              </a:rPr>
              <a:t>RISULTATO</a:t>
            </a:r>
          </a:p>
        </p:txBody>
      </p:sp>
      <p:sp>
        <p:nvSpPr>
          <p:cNvPr id="633" name="nx_risultato"/>
          <p:cNvSpPr txBox="1"/>
          <p:nvPr/>
        </p:nvSpPr>
        <p:spPr>
          <a:xfrm>
            <a:off x="1097280" y="7269480"/>
            <a:ext cx="16459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1500" dirty="0">
                <a:solidFill>
                  <a:srgbClr val="1A1A1A"/>
                </a:solidFill>
                <a:latin typeface="DM Sans"/>
                <a:cs typeface="DM Sans"/>
              </a:rPr>
              <a:t>Nessun infortunio analogo nei 24 mesi successivi. L’audit INAIL riconosce la corretta applicazione delle misure e riduce il premio (modello OT23).</a:t>
            </a:r>
          </a:p>
        </p:txBody>
      </p:sp>
      <p:sp>
        <p:nvSpPr>
          <p:cNvPr id="6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A8255A"/>
                </a:solidFill>
                <a:latin typeface="DM Sans"/>
                <a:cs typeface="DM Sans"/>
              </a:rPr>
              <a:t>Titolo IV — Capo II, D.Lgs 81/08</a:t>
            </a:r>
          </a:p>
        </p:txBody>
      </p:sp>
      <p:sp>
        <p:nvSpPr>
          <p:cNvPr id="6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r>
              <a:rPr lang="it-IT" sz="1100" dirty="0">
                <a:solidFill>
                  <a:srgbClr val="6B7280"/>
                </a:solidFill>
                <a:latin typeface="DM Sans"/>
                <a:cs typeface="DM Sans"/>
              </a:rPr>
              <a:t>6 / 8</a:t>
            </a:r>
          </a:p>
        </p:txBody>
      </p:sp>
      <p:pic>
        <p:nvPicPr>
          <p:cNvPr id="6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nx_recap_band"/>
          <p:cNvSpPr/>
          <p:nvPr/>
        </p:nvSpPr>
        <p:spPr>
          <a:xfrm>
            <a:off x="0" y="0"/>
            <a:ext cx="18288000" cy="640080"/>
          </a:xfrm>
          <a:prstGeom prst="rect">
            <a:avLst/>
          </a:prstGeom>
          <a:gradFill flip="none" rotWithShape="1">
            <a:gsLst>
              <a:gs pos="0">
                <a:srgbClr val="769E2E"/>
              </a:gs>
              <a:gs pos="100000">
                <a:srgbClr val="5C7E2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01" name="nx_recap_band_label"/>
          <p:cNvSpPr txBox="1"/>
          <p:nvPr/>
        </p:nvSpPr>
        <p:spPr>
          <a:xfrm>
            <a:off x="640080" y="0"/>
            <a:ext cx="170078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400" b="1" dirty="0">
                <a:solidFill>
                  <a:srgbClr val="FFFFFF"/>
                </a:solidFill>
                <a:latin typeface="Montserrat"/>
                <a:cs typeface="Montserrat"/>
              </a:rPr>
              <a:t>RIEPILOGO</a:t>
            </a:r>
          </a:p>
        </p:txBody>
      </p:sp>
      <p:sp>
        <p:nvSpPr>
          <p:cNvPr id="702" name="nx_title"/>
          <p:cNvSpPr txBox="1"/>
          <p:nvPr/>
        </p:nvSpPr>
        <p:spPr>
          <a:xfrm>
            <a:off x="640080" y="91440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000" b="1" dirty="0">
                <a:solidFill>
                  <a:srgbClr val="1F1F2C"/>
                </a:solidFill>
                <a:latin typeface="Montserrat"/>
                <a:cs typeface="Montserrat"/>
              </a:rPr>
              <a:t>Cosa hai imparato in questo modulo</a:t>
            </a:r>
          </a:p>
        </p:txBody>
      </p:sp>
      <p:sp>
        <p:nvSpPr>
          <p:cNvPr id="703" name="nx_mini_bar"/>
          <p:cNvSpPr/>
          <p:nvPr/>
        </p:nvSpPr>
        <p:spPr>
          <a:xfrm>
            <a:off x="640080" y="205740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10" name="nx_recap_check_710"/>
          <p:cNvSpPr/>
          <p:nvPr/>
        </p:nvSpPr>
        <p:spPr>
          <a:xfrm>
            <a:off x="822960" y="265176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11" name="nx_recap_checkmark_710"/>
          <p:cNvSpPr txBox="1"/>
          <p:nvPr/>
        </p:nvSpPr>
        <p:spPr>
          <a:xfrm>
            <a:off x="822960" y="2651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12" name="nx_recap_text_710"/>
          <p:cNvSpPr txBox="1"/>
          <p:nvPr/>
        </p:nvSpPr>
        <p:spPr>
          <a:xfrm>
            <a:off x="1554480" y="260604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I principi cardine del D.Lgs 81/08 e la gerarchia delle misure di prevenzione.</a:t>
            </a:r>
          </a:p>
        </p:txBody>
      </p:sp>
      <p:sp>
        <p:nvSpPr>
          <p:cNvPr id="720" name="nx_recap_check_720"/>
          <p:cNvSpPr/>
          <p:nvPr/>
        </p:nvSpPr>
        <p:spPr>
          <a:xfrm>
            <a:off x="822960" y="374904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21" name="nx_recap_checkmark_720"/>
          <p:cNvSpPr txBox="1"/>
          <p:nvPr/>
        </p:nvSpPr>
        <p:spPr>
          <a:xfrm>
            <a:off x="822960" y="37490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22" name="nx_recap_text_720"/>
          <p:cNvSpPr txBox="1"/>
          <p:nvPr/>
        </p:nvSpPr>
        <p:spPr>
          <a:xfrm>
            <a:off x="1554480" y="370332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I ruoli di Datore di Lavoro, RSPP, RLS e Medico Competente.</a:t>
            </a:r>
          </a:p>
        </p:txBody>
      </p:sp>
      <p:sp>
        <p:nvSpPr>
          <p:cNvPr id="730" name="nx_recap_check_730"/>
          <p:cNvSpPr/>
          <p:nvPr/>
        </p:nvSpPr>
        <p:spPr>
          <a:xfrm>
            <a:off x="822960" y="484632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31" name="nx_recap_checkmark_730"/>
          <p:cNvSpPr txBox="1"/>
          <p:nvPr/>
        </p:nvSpPr>
        <p:spPr>
          <a:xfrm>
            <a:off x="822960" y="48463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32" name="nx_recap_text_730"/>
          <p:cNvSpPr txBox="1"/>
          <p:nvPr/>
        </p:nvSpPr>
        <p:spPr>
          <a:xfrm>
            <a:off x="1554480" y="480060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Il ciclo di Valutazione dei Rischi e la redazione del DVR.</a:t>
            </a:r>
          </a:p>
        </p:txBody>
      </p:sp>
      <p:sp>
        <p:nvSpPr>
          <p:cNvPr id="740" name="nx_recap_check_740"/>
          <p:cNvSpPr/>
          <p:nvPr/>
        </p:nvSpPr>
        <p:spPr>
          <a:xfrm>
            <a:off x="822960" y="594360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41" name="nx_recap_checkmark_740"/>
          <p:cNvSpPr txBox="1"/>
          <p:nvPr/>
        </p:nvSpPr>
        <p:spPr>
          <a:xfrm>
            <a:off x="822960" y="59436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42" name="nx_recap_text_740"/>
          <p:cNvSpPr txBox="1"/>
          <p:nvPr/>
        </p:nvSpPr>
        <p:spPr>
          <a:xfrm>
            <a:off x="1554480" y="589788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L’uso corretto dei DPI e gli obblighi del lavoratore.</a:t>
            </a:r>
          </a:p>
        </p:txBody>
      </p:sp>
      <p:sp>
        <p:nvSpPr>
          <p:cNvPr id="750" name="nx_recap_check_750"/>
          <p:cNvSpPr/>
          <p:nvPr/>
        </p:nvSpPr>
        <p:spPr>
          <a:xfrm>
            <a:off x="822960" y="704088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51" name="nx_recap_checkmark_750"/>
          <p:cNvSpPr txBox="1"/>
          <p:nvPr/>
        </p:nvSpPr>
        <p:spPr>
          <a:xfrm>
            <a:off x="822960" y="70408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52" name="nx_recap_text_750"/>
          <p:cNvSpPr txBox="1"/>
          <p:nvPr/>
        </p:nvSpPr>
        <p:spPr>
          <a:xfrm>
            <a:off x="1554480" y="699516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Le sanzioni previste e l’importanza della formazione continua.</a:t>
            </a:r>
          </a:p>
        </p:txBody>
      </p:sp>
      <p:sp>
        <p:nvSpPr>
          <p:cNvPr id="790" name="nx_module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EEF7E0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4F6F1E"/>
                </a:solidFill>
                <a:latin typeface="DM Sans"/>
                <a:cs typeface="DM Sans"/>
              </a:rPr>
              <a:t>Modulo 1 — Formazione Generale</a:t>
            </a:r>
          </a:p>
        </p:txBody>
      </p:sp>
      <p:sp>
        <p:nvSpPr>
          <p:cNvPr id="7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r>
              <a:rPr lang="it-IT" sz="1100" dirty="0">
                <a:solidFill>
                  <a:srgbClr val="6B7280"/>
                </a:solidFill>
                <a:latin typeface="DM Sans"/>
                <a:cs typeface="DM Sans"/>
              </a:rPr>
              <a:t>7 / 8</a:t>
            </a:r>
          </a:p>
        </p:txBody>
      </p:sp>
      <p:pic>
        <p:nvPicPr>
          <p:cNvPr id="7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nx_bg_grad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60000">
                <a:srgbClr val="FFFFFF"/>
              </a:gs>
              <a:gs pos="100000">
                <a:srgbClr val="FCE4EC"/>
              </a:gs>
            </a:gsLst>
            <a:lin ang="810000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1" name="nx_band_top"/>
          <p:cNvSpPr/>
          <p:nvPr/>
        </p:nvSpPr>
        <p:spPr>
          <a:xfrm>
            <a:off x="0" y="0"/>
            <a:ext cx="18288000" cy="50292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769E2E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2" name="nx_blob"/>
          <p:cNvSpPr/>
          <p:nvPr/>
        </p:nvSpPr>
        <p:spPr>
          <a:xfrm>
            <a:off x="12801600" y="5943600"/>
            <a:ext cx="5029200" cy="4114800"/>
          </a:xfrm>
          <a:prstGeom prst="ellipse">
            <a:avLst/>
          </a:prstGeom>
          <a:solidFill>
            <a:srgbClr val="FCE4EC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3" name="nx_blob_2"/>
          <p:cNvSpPr/>
          <p:nvPr/>
        </p:nvSpPr>
        <p:spPr>
          <a:xfrm>
            <a:off x="457200" y="6400800"/>
            <a:ext cx="3200400" cy="3200400"/>
          </a:xfrm>
          <a:prstGeom prst="ellipse">
            <a:avLst/>
          </a:prstGeom>
          <a:solidFill>
            <a:srgbClr val="E1F0FF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4" name="nx_title"/>
          <p:cNvSpPr txBox="1"/>
          <p:nvPr/>
        </p:nvSpPr>
        <p:spPr>
          <a:xfrm>
            <a:off x="1371600" y="3200400"/>
            <a:ext cx="15544800" cy="21945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8400" b="1" dirty="0">
                <a:solidFill>
                  <a:srgbClr val="1F1F2C"/>
                </a:solidFill>
                <a:latin typeface="Montserrat"/>
                <a:cs typeface="Montserrat"/>
              </a:rPr>
              <a:t>Grazie</a:t>
            </a:r>
          </a:p>
        </p:txBody>
      </p:sp>
      <p:pic>
        <p:nvPicPr>
          <p:cNvPr id="805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035040"/>
            <a:ext cx="2743200" cy="731520"/>
          </a:xfrm>
          <a:prstGeom prst="rect">
            <a:avLst/>
          </a:prstGeom>
        </p:spPr>
      </p:pic>
      <p:sp>
        <p:nvSpPr>
          <p:cNvPr id="806" name="nx_tagline"/>
          <p:cNvSpPr txBox="1"/>
          <p:nvPr/>
        </p:nvSpPr>
        <p:spPr>
          <a:xfrm>
            <a:off x="1371600" y="6949440"/>
            <a:ext cx="15544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2200" i="1" dirty="0">
                <a:solidFill>
                  <a:srgbClr val="6B7280"/>
                </a:solidFill>
                <a:latin typeface="DM Sans"/>
                <a:cs typeface="DM Sans"/>
              </a:rPr>
              <a:t>Formazione Globale</a:t>
            </a:r>
          </a:p>
        </p:txBody>
      </p:sp>
      <p:sp>
        <p:nvSpPr>
          <p:cNvPr id="807" name="nx_dot1"/>
          <p:cNvSpPr/>
          <p:nvPr/>
        </p:nvSpPr>
        <p:spPr>
          <a:xfrm>
            <a:off x="8595360" y="7955280"/>
            <a:ext cx="292608" cy="292608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8" name="nx_dot2"/>
          <p:cNvSpPr/>
          <p:nvPr/>
        </p:nvSpPr>
        <p:spPr>
          <a:xfrm>
            <a:off x="8997696" y="7955280"/>
            <a:ext cx="292608" cy="292608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9" name="nx_dot3"/>
          <p:cNvSpPr/>
          <p:nvPr/>
        </p:nvSpPr>
        <p:spPr>
          <a:xfrm>
            <a:off x="9400032" y="7955280"/>
            <a:ext cx="292608" cy="292608"/>
          </a:xfrm>
          <a:prstGeom prst="ellipse">
            <a:avLst/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FP">
  <a:themeElements>
    <a:clrScheme name="CFP">
      <a:dk1>
        <a:srgbClr val="1F1F2C"/>
      </a:dk1>
      <a:lt1>
        <a:srgbClr val="FFFFFF"/>
      </a:lt1>
      <a:dk2>
        <a:srgbClr val="1A1A1A"/>
      </a:dk2>
      <a:lt2>
        <a:srgbClr val="F8F9FA"/>
      </a:lt2>
      <a:accent1>
        <a:srgbClr val="C82E6E"/>
      </a:accent1>
      <a:accent2>
        <a:srgbClr val="769E2E"/>
      </a:accent2>
      <a:accent3>
        <a:srgbClr val="A8255A"/>
      </a:accent3>
      <a:accent4>
        <a:srgbClr val="6B7280"/>
      </a:accent4>
      <a:accent5>
        <a:srgbClr val="E1F0FF"/>
      </a:accent5>
      <a:accent6>
        <a:srgbClr val="1F1F2C"/>
      </a:accent6>
      <a:hlink>
        <a:srgbClr val="C82E6E"/>
      </a:hlink>
      <a:folHlink>
        <a:srgbClr val="A8255A"/>
      </a:folHlink>
    </a:clrScheme>
    <a:fontScheme name="CFP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  <a:miter lim="800000"/>
        </a:ln>
        <a:ln w="12700">
          <a:solidFill>
            <a:schemeClr val="phClr"/>
          </a:solidFill>
          <a:prstDash val="solid"/>
          <a:miter lim="800000"/>
        </a:ln>
        <a:ln w="1905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</Words>
  <Application>Microsoft Office PowerPoint</Application>
  <PresentationFormat>Personalizzato</PresentationFormat>
  <Paragraphs>60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Arial</vt:lpstr>
      <vt:lpstr>DM Sans</vt:lpstr>
      <vt:lpstr>Montserrat</vt:lpstr>
      <vt:lpstr>CFP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CFP Montessori — Nexus Master v2</dc:title>
  <dc:creator>CFP Montessori</dc:creator>
  <cp:lastModifiedBy>alessio di lonardo</cp:lastModifiedBy>
  <cp:revision>3</cp:revision>
  <dcterms:created xsi:type="dcterms:W3CDTF">2026-05-25T00:00:00Z</dcterms:created>
  <dcterms:modified xsi:type="dcterms:W3CDTF">2026-05-25T20:25:37Z</dcterms:modified>
</cp:coreProperties>
</file>