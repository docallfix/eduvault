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81000"/>
          </a:xfrm>
          <a:prstGeom prst="rect">
            <a:avLst/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247186" y="4535909"/>
            <a:ext cx="9793505" cy="666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0" spc="-90" kern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Formazione Generale dei Lavoratori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047867" y="5431110"/>
            <a:ext cx="61921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Formazione Generale Lavoratori — 4 ore — D.Lgs 81/08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5542" y="9048750"/>
            <a:ext cx="2286000" cy="640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CONTENT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504"/>
            <a:ext cx="1726692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24" kern="0" dirty="0">
                <a:solidFill>
                  <a:srgbClr val="1F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Obblighi del Datore di Lavoro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8650" y="1333500"/>
            <a:ext cx="16973550" cy="207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Valutare tutti i rischi presenti in azienda e redigere il Documento di Valutazione dei Rischi (DVR).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Nominare il Responsabile del Servizio di Prevenzione e Protezione (RSPP) e il medico competente, ove previsto.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Fornire ai lavoratori adeguati Dispositivi di Protezione Individuale (DPI) e verificarne il corretto utilizzo.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Garantire la formazione, l'informazione e l'addestramento continuo dei lavoratori sui rischi specifici della mansione.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Consultare il Rappresentante dei Lavoratori per la Sicurezza (RLS) nelle fasi di valutazione e pianificazione.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0076656"/>
            <a:ext cx="116661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18" kern="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Art. 18, D.Lgs 81/08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350133" y="10076531"/>
            <a:ext cx="32709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0" y="9738360"/>
            <a:ext cx="137160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CONTENT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504"/>
            <a:ext cx="1726692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24" kern="0" dirty="0">
                <a:solidFill>
                  <a:srgbClr val="1F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Dispositivi di Protezione Individuale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8650" y="1333500"/>
            <a:ext cx="9925050" cy="163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 DPI sono l'ultima barriera difensiva quando i rischi non possono essere eliminati alla fonte.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Devono essere marcati CE, idonei alla mansione e mantenuti in efficienza.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Il lavoratore è obbligato a utilizzarli secondo le istruzioni ricevute e a segnalarne difetti o usura.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Categoria III: DPI per rischi gravi o mortali — formazione e addestramento obbligatori.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049000" y="1333500"/>
            <a:ext cx="6477000" cy="4861719"/>
          </a:xfrm>
          <a:prstGeom prst="roundRect">
            <a:avLst>
              <a:gd name="adj" fmla="val 1567"/>
            </a:avLst>
          </a:prstGeom>
          <a:solidFill>
            <a:srgbClr val="F3F4F6"/>
          </a:solidFill>
          <a:ln w="7937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59782" y="1341437"/>
            <a:ext cx="6655435" cy="488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[ immagine: set DPI completo 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0076656"/>
            <a:ext cx="1372245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18" kern="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Art. 74-79, D.Lgs 81/08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50133" y="10076531"/>
            <a:ext cx="32709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0" y="9738360"/>
            <a:ext cx="137160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3031"/>
            <a:ext cx="4458015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0" spc="-21" kern="0" dirty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Flusso della Valutazione dei Rischi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524000" y="857250"/>
            <a:ext cx="15240000" cy="7635875"/>
          </a:xfrm>
          <a:prstGeom prst="roundRect">
            <a:avLst>
              <a:gd name="adj" fmla="val 998"/>
            </a:avLst>
          </a:prstGeom>
          <a:solidFill>
            <a:srgbClr val="F3F4F6"/>
          </a:solidFill>
          <a:ln w="7937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03337" y="865187"/>
            <a:ext cx="15681325" cy="7658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[ diagramma: identificazione → valutazione → misure → monitoraggio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5400" y="9502179"/>
            <a:ext cx="1569720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i="1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Figura 1 — Ciclo continuo previsto dal Titolo I del D.Lgs 81/08: ogni fase alimenta la successiva e il processo si ripete a intervalli regolari.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0076656"/>
            <a:ext cx="138563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18" kern="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Art. 28-29, D.Lgs 81/08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350133" y="10076531"/>
            <a:ext cx="32709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0" y="9738360"/>
            <a:ext cx="137160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QUI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504"/>
            <a:ext cx="1726692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24" kern="0" dirty="0">
                <a:solidFill>
                  <a:srgbClr val="1F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 nomina il Responsabile del Servizio di Prevenzione e Protezione?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7266920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A. 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Il Rappresentante dei Lavoratori per la Sicurezza (RLS).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828726"/>
            <a:ext cx="17266920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B. 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Il Datore di Lavoro, eventualmente assumendone direttamente i compiti nei casi previsti.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323951"/>
            <a:ext cx="17266920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b="0" dirty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C. </a:t>
            </a:r>
            <a:pPr algn="l" indent="0" marL="0">
              <a:lnSpc>
                <a:spcPct val="140000"/>
              </a:lnSpc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L'Ispettorato Territoriale del Lavoro.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819177"/>
            <a:ext cx="17266920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D. 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Il Medico Competente in accordo con il Consiglio di Amministrazione.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2000" y="9906000"/>
            <a:ext cx="173126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0" spc="24" kern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Risposta corretta: B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CASE_STU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247427"/>
          </a:xfrm>
          <a:prstGeom prst="roundRect">
            <a:avLst>
              <a:gd name="adj" fmla="val 15398"/>
            </a:avLst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76300" y="438150"/>
            <a:ext cx="17038320" cy="171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52" kern="0" dirty="0">
                <a:solidFill>
                  <a:srgbClr val="C82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STUDIO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761752"/>
            <a:ext cx="17266920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00" b="0" spc="-21" kern="0" dirty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Infortunio in magazzino: caduta da scala portatile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16764000" cy="8006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2000" y="1714500"/>
            <a:ext cx="31750" cy="800695"/>
          </a:xfrm>
          <a:prstGeom prst="rect">
            <a:avLst/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2325" y="1866801"/>
            <a:ext cx="16763353" cy="209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b="1" spc="45" kern="0" dirty="0">
                <a:solidFill>
                  <a:srgbClr val="C82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SITUAZIONE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2325" y="2114476"/>
            <a:ext cx="16763353" cy="286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Un magazziniere utilizza una scala doppia non vincolata per prelevare materiale da uno scaffale a 3 metri. La scala scivola e l'operatore cade riportando una frattura.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2000" y="2705695"/>
            <a:ext cx="16764000" cy="8006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62000" y="2705695"/>
            <a:ext cx="31750" cy="800695"/>
          </a:xfrm>
          <a:prstGeom prst="rect">
            <a:avLst/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2325" y="2857996"/>
            <a:ext cx="16763353" cy="209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b="1" spc="45" kern="0" dirty="0">
                <a:solidFill>
                  <a:srgbClr val="C82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AZIONE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2325" y="3105671"/>
            <a:ext cx="16763353" cy="286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L'azienda aggiorna il DVR, sostituisce le scale con trabattelli certificati EN 1004 e organizza una formazione specifica sul lavoro in quota ex Art. 107.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2000" y="3696891"/>
            <a:ext cx="16764000" cy="8006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62000" y="3696891"/>
            <a:ext cx="31750" cy="800695"/>
          </a:xfrm>
          <a:prstGeom prst="rect">
            <a:avLst/>
          </a:prstGeom>
          <a:solidFill>
            <a:srgbClr val="C82E6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2325" y="3849191"/>
            <a:ext cx="16763353" cy="209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b="1" spc="45" kern="0" dirty="0">
                <a:solidFill>
                  <a:srgbClr val="C82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2325" y="4096866"/>
            <a:ext cx="16763353" cy="286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Nessun infortunio analogo nei 24 mesi successivi. L'audit INAIL riconosce la corretta applicazione delle misure e riduce il premio assicurativo (OT23).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62000" y="10076656"/>
            <a:ext cx="1855812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18" kern="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Titolo IV — Capo II, D.Lgs 81/08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350133" y="10076531"/>
            <a:ext cx="32709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0" y="9738360"/>
            <a:ext cx="137160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REC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247427"/>
          </a:xfrm>
          <a:prstGeom prst="roundRect">
            <a:avLst>
              <a:gd name="adj" fmla="val 15398"/>
            </a:avLst>
          </a:prstGeom>
          <a:solidFill>
            <a:srgbClr val="769E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76300" y="438150"/>
            <a:ext cx="17038320" cy="171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52" kern="0" dirty="0">
                <a:solidFill>
                  <a:srgbClr val="C82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RIEPILOGO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761752"/>
            <a:ext cx="17266920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0" spc="-21" kern="0" dirty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Cosa hai imparato in questo modulo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15315" y="1714500"/>
            <a:ext cx="16986885" cy="23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 principi cardine del D.Lgs 81/08 e la gerarchia delle misure di prevenzione.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 ruoli e le responsabilità di Datore di Lavoro, RSPP, RLS e Medico Competente.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Il ciclo di Valutazione dei Rischi e la redazione del Documento di Valutazione dei Rischi (DVR).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L'uso corretto dei Dispositivi di Protezione Individuale e gli obblighi del lavoratore.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 b="0">
                <a:solidFill>
                  <a:srgbClr val="1A1A1A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Le sanzioni previste in caso di inottemperanza e l'importanza della formazione continua.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10076656"/>
            <a:ext cx="196148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18" kern="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Modulo 1 — Formazione Generale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350133" y="10076531"/>
            <a:ext cx="32709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0" y="9738360"/>
            <a:ext cx="137160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0735" y="3638476"/>
            <a:ext cx="298653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150" kern="0" dirty="0">
                <a:solidFill>
                  <a:srgbClr val="1F1F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Grazie</a:t>
            </a:r>
            <a:endParaRPr lang="en-US" sz="7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725" y="5966395"/>
            <a:ext cx="228600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7825" y="7299895"/>
            <a:ext cx="169234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00" i="1" dirty="0" b="0">
                <a:solidFill>
                  <a:srgbClr val="6B7280"/>
                </a:solidFill>
                <a:latin typeface="Calibri" pitchFamily="34" charset="0"/>
                <a:ea typeface="Inter" pitchFamily="34" charset="-122"/>
                <a:cs typeface="Inter" pitchFamily="34" charset="-120"/>
              </a:rPr>
              <a:t>Formazione Globale</a:t>
            </a:r>
            <a:endParaRPr lang="en-US" sz="13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2026-05-24T16:57:22Z</dcterms:created>
  <dcterms:modified xsi:type="dcterms:W3CDTF">2026-05-24T16:57:22Z</dcterms:modified>
</cp:coreProperties>
</file>