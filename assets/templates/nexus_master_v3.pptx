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defPPr>
      <a:defRPr lang="it-IT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8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8288000" cy="5943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731520" y="6675120"/>
            <a:ext cx="2926080" cy="292608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blob_tr"/>
          <p:cNvSpPr/>
          <p:nvPr/>
        </p:nvSpPr>
        <p:spPr>
          <a:xfrm>
            <a:off x="15087600" y="914400"/>
            <a:ext cx="2560320" cy="256032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3" name="nx_title"/>
          <p:cNvSpPr txBox="1"/>
          <p:nvPr/>
        </p:nvSpPr>
        <p:spPr>
          <a:xfrm>
            <a:off x="1371600" y="3108960"/>
            <a:ext cx="1554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104" name="nx_subtitle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680960"/>
            <a:ext cx="2743200" cy="731520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8595360" y="873252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7" name="nx_dot2"/>
          <p:cNvSpPr/>
          <p:nvPr/>
        </p:nvSpPr>
        <p:spPr>
          <a:xfrm>
            <a:off x="8997696" y="873252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8" name="nx_dot3"/>
          <p:cNvSpPr/>
          <p:nvPr/>
        </p:nvSpPr>
        <p:spPr>
          <a:xfrm>
            <a:off x="9400032" y="873252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title"/>
          <p:cNvSpPr txBox="1"/>
          <p:nvPr>
            <p:ph type="title" idx="0"/>
          </p:nvPr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2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body"/>
          <p:cNvSpPr txBox="1"/>
          <p:nvPr>
            <p:ph type="body" idx="1"/>
          </p:nvPr>
        </p:nvSpPr>
        <p:spPr>
          <a:xfrm>
            <a:off x="640080" y="2103120"/>
            <a:ext cx="17007840" cy="7223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>
            <a:lvl1pPr marL="342900" indent="-342900">
              <a:buFont typeface="Arial"/>
              <a:buChar char="•"/>
            </a:lvl1pPr>
          </a:lstStyle>
          <a:p/>
        </p:txBody>
      </p:sp>
      <p:sp>
        <p:nvSpPr>
          <p:cNvPr id="2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2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1" name="nx_title"/>
          <p:cNvSpPr txBox="1"/>
          <p:nvPr>
            <p:ph type="title" idx="0"/>
          </p:nvPr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3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3" name="nx_body"/>
          <p:cNvSpPr txBox="1"/>
          <p:nvPr>
            <p:ph type="body" idx="1"/>
          </p:nvPr>
        </p:nvSpPr>
        <p:spPr>
          <a:xfrm>
            <a:off x="640080" y="2103120"/>
            <a:ext cx="941832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>
            <a:lvl1pPr marL="342900" indent="-342900">
              <a:buFont typeface="Arial"/>
              <a:buChar char="•"/>
            </a:lvl1pPr>
          </a:lstStyle>
          <a:p/>
        </p:txBody>
      </p:sp>
      <p:sp>
        <p:nvSpPr>
          <p:cNvPr id="304" name="nx_image_box"/>
          <p:cNvSpPr/>
          <p:nvPr>
            <p:ph type="pic" idx="2"/>
          </p:nvPr>
        </p:nvSpPr>
        <p:spPr>
          <a:xfrm>
            <a:off x="10424160" y="2103120"/>
            <a:ext cx="7223760" cy="5852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400" i="1" dirty="0">
                <a:solidFill>
                  <a:srgbClr val="6B7280"/>
                </a:solidFill>
                <a:latin typeface="DM Sans"/>
              </a:rPr>
              <a:t/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10424160" y="80924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3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3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1" name="nx_title"/>
          <p:cNvSpPr txBox="1"/>
          <p:nvPr>
            <p:ph type="title" idx="0"/>
          </p:nvPr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4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3" name="nx_diagram_box"/>
          <p:cNvSpPr/>
          <p:nvPr>
            <p:ph type="pic" idx="2"/>
          </p:nvPr>
        </p:nvSpPr>
        <p:spPr>
          <a:xfrm>
            <a:off x="1371600" y="2103120"/>
            <a:ext cx="15544800" cy="6126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800" i="1" dirty="0">
                <a:solidFill>
                  <a:srgbClr val="6B7280"/>
                </a:solidFill>
                <a:latin typeface="DM Sans"/>
              </a:rPr>
              <a:t/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1371600" y="836676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4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4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QUIZ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01" name="nx_question_box"/>
          <p:cNvSpPr/>
          <p:nvPr/>
        </p:nvSpPr>
        <p:spPr>
          <a:xfrm>
            <a:off x="640080" y="548640"/>
            <a:ext cx="17007840" cy="1417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2" name="nx_title"/>
          <p:cNvSpPr txBox="1"/>
          <p:nvPr/>
        </p:nvSpPr>
        <p:spPr>
          <a:xfrm>
            <a:off x="914400" y="548640"/>
            <a:ext cx="164592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2400" b="1" dirty="0">
                <a:solidFill>
                  <a:srgbClr val="1F1F2C"/>
                </a:solidFill>
                <a:latin typeface="Montserrat"/>
                <a:cs typeface="Montserrat"/>
              </a:rPr>
              <a:t>Testo della domanda?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2286000" y="233172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11" name="nx_letter_a"/>
          <p:cNvSpPr/>
          <p:nvPr/>
        </p:nvSpPr>
        <p:spPr>
          <a:xfrm>
            <a:off x="2651760" y="258318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12" name="nx_letter_text_a"/>
          <p:cNvSpPr txBox="1"/>
          <p:nvPr/>
        </p:nvSpPr>
        <p:spPr>
          <a:xfrm>
            <a:off x="2651760" y="25831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3657600" y="246888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20" name="nx_option_card_b"/>
          <p:cNvSpPr/>
          <p:nvPr/>
        </p:nvSpPr>
        <p:spPr>
          <a:xfrm>
            <a:off x="2286000" y="374904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1" name="nx_letter_b"/>
          <p:cNvSpPr/>
          <p:nvPr/>
        </p:nvSpPr>
        <p:spPr>
          <a:xfrm>
            <a:off x="2651760" y="400050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22" name="nx_letter_text_b"/>
          <p:cNvSpPr txBox="1"/>
          <p:nvPr/>
        </p:nvSpPr>
        <p:spPr>
          <a:xfrm>
            <a:off x="2651760" y="40005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3657600" y="388620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30" name="nx_option_card_c"/>
          <p:cNvSpPr/>
          <p:nvPr/>
        </p:nvSpPr>
        <p:spPr>
          <a:xfrm>
            <a:off x="2286000" y="516636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1" name="nx_letter_c"/>
          <p:cNvSpPr/>
          <p:nvPr/>
        </p:nvSpPr>
        <p:spPr>
          <a:xfrm>
            <a:off x="2651760" y="541782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32" name="nx_letter_text_c"/>
          <p:cNvSpPr txBox="1"/>
          <p:nvPr/>
        </p:nvSpPr>
        <p:spPr>
          <a:xfrm>
            <a:off x="265176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3657600" y="530352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40" name="nx_option_card_d"/>
          <p:cNvSpPr/>
          <p:nvPr/>
        </p:nvSpPr>
        <p:spPr>
          <a:xfrm>
            <a:off x="2286000" y="658368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1" name="nx_letter_d"/>
          <p:cNvSpPr/>
          <p:nvPr/>
        </p:nvSpPr>
        <p:spPr>
          <a:xfrm>
            <a:off x="2651760" y="683514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42" name="nx_letter_text_d"/>
          <p:cNvSpPr txBox="1"/>
          <p:nvPr/>
        </p:nvSpPr>
        <p:spPr>
          <a:xfrm>
            <a:off x="2651760" y="68351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3657600" y="672084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50" name="nx_correct_bar"/>
          <p:cNvSpPr/>
          <p:nvPr/>
        </p:nvSpPr>
        <p:spPr>
          <a:xfrm>
            <a:off x="0" y="9006840"/>
            <a:ext cx="18288000" cy="12801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51" name="nx_correct_marker"/>
          <p:cNvSpPr txBox="1"/>
          <p:nvPr/>
        </p:nvSpPr>
        <p:spPr>
          <a:xfrm>
            <a:off x="640080" y="9006840"/>
            <a:ext cx="1700784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813816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ASE STU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01" name="nx_case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610" name="nx_case_bg_situazione"/>
          <p:cNvSpPr/>
          <p:nvPr/>
        </p:nvSpPr>
        <p:spPr>
          <a:xfrm>
            <a:off x="640080" y="214884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case_bar_situazione"/>
          <p:cNvSpPr/>
          <p:nvPr/>
        </p:nvSpPr>
        <p:spPr>
          <a:xfrm>
            <a:off x="640080" y="214884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case_label_situazione"/>
          <p:cNvSpPr txBox="1"/>
          <p:nvPr/>
        </p:nvSpPr>
        <p:spPr>
          <a:xfrm>
            <a:off x="1097280" y="233172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C82E6E"/>
                </a:solidFill>
                <a:latin typeface="Montserrat"/>
                <a:cs typeface="Montserrat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1097280" y="278892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situazione.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640080" y="438912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case_bar_azione"/>
          <p:cNvSpPr/>
          <p:nvPr/>
        </p:nvSpPr>
        <p:spPr>
          <a:xfrm>
            <a:off x="640080" y="438912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case_label_azione"/>
          <p:cNvSpPr txBox="1"/>
          <p:nvPr/>
        </p:nvSpPr>
        <p:spPr>
          <a:xfrm>
            <a:off x="1097280" y="457200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769E2E"/>
                </a:solidFill>
                <a:latin typeface="Montserrat"/>
                <a:cs typeface="Montserrat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1097280" y="502920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azione.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640080" y="662940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case_bar_risultato"/>
          <p:cNvSpPr/>
          <p:nvPr/>
        </p:nvSpPr>
        <p:spPr>
          <a:xfrm>
            <a:off x="640080" y="662940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case_label_risultato"/>
          <p:cNvSpPr txBox="1"/>
          <p:nvPr/>
        </p:nvSpPr>
        <p:spPr>
          <a:xfrm>
            <a:off x="1097280" y="681228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1F1F2C"/>
                </a:solidFill>
                <a:latin typeface="Montserrat"/>
                <a:cs typeface="Montserrat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1097280" y="726948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risultato.</a:t>
            </a:r>
          </a:p>
        </p:txBody>
      </p:sp>
      <p:sp>
        <p:nvSpPr>
          <p:cNvPr id="6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6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REC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1" name="nx_recap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Cosa hai imparato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640080" y="205740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0" name="nx_recap_check_710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recap_checkmark_710"/>
          <p:cNvSpPr txBox="1"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554480" y="260604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20" name="nx_recap_check_720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recap_checkmark_720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554480" y="370332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30" name="nx_recap_check_730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recap_checkmark_730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554480" y="480060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40" name="nx_recap_check_740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41" name="nx_recap_checkmark_740"/>
          <p:cNvSpPr txBox="1"/>
          <p:nvPr/>
        </p:nvSpPr>
        <p:spPr>
          <a:xfrm>
            <a:off x="822960" y="5943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554480" y="589788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50" name="nx_recap_check_750"/>
          <p:cNvSpPr/>
          <p:nvPr/>
        </p:nvSpPr>
        <p:spPr>
          <a:xfrm>
            <a:off x="822960" y="704088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51" name="nx_recap_checkmark_750"/>
          <p:cNvSpPr txBox="1"/>
          <p:nvPr/>
        </p:nvSpPr>
        <p:spPr>
          <a:xfrm>
            <a:off x="822960" y="7040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554480" y="699516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90" name="nx_module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7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2" name="nx_blob"/>
          <p:cNvSpPr/>
          <p:nvPr/>
        </p:nvSpPr>
        <p:spPr>
          <a:xfrm>
            <a:off x="12801600" y="5943600"/>
            <a:ext cx="5029200" cy="411480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3" name="nx_blob_2"/>
          <p:cNvSpPr/>
          <p:nvPr/>
        </p:nvSpPr>
        <p:spPr>
          <a:xfrm>
            <a:off x="457200" y="6400800"/>
            <a:ext cx="3200400" cy="320040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4" name="nx_title"/>
          <p:cNvSpPr txBox="1"/>
          <p:nvPr/>
        </p:nvSpPr>
        <p:spPr>
          <a:xfrm>
            <a:off x="1371600" y="3200400"/>
            <a:ext cx="1554480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8400" b="1" dirty="0">
                <a:solidFill>
                  <a:srgbClr val="1F1F2C"/>
                </a:solidFill>
                <a:latin typeface="Montserrat"/>
                <a:cs typeface="Montserrat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035040"/>
            <a:ext cx="2743200" cy="731520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1371600" y="694944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i="1" dirty="0">
                <a:solidFill>
                  <a:srgbClr val="6B7280"/>
                </a:solidFill>
                <a:latin typeface="DM Sans"/>
                <a:cs typeface="DM Sans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8595360" y="795528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8" name="nx_dot2"/>
          <p:cNvSpPr/>
          <p:nvPr/>
        </p:nvSpPr>
        <p:spPr>
          <a:xfrm>
            <a:off x="8997696" y="795528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9" name="nx_dot3"/>
          <p:cNvSpPr/>
          <p:nvPr/>
        </p:nvSpPr>
        <p:spPr>
          <a:xfrm>
            <a:off x="9400032" y="795528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>
        <a:defRPr sz="3400" b="1">
          <a:solidFill>
            <a:srgbClr val="1F1F2C"/>
          </a:solidFill>
          <a:latin typeface="Montserrat"/>
        </a:defRPr>
      </a:lvl1pPr>
    </p:titleStyle>
    <p:bodyStyle>
      <a:lvl1pPr algn="l">
        <a:defRPr sz="1800">
          <a:solidFill>
            <a:srgbClr val="1A1A1A"/>
          </a:solidFill>
          <a:latin typeface="DM Sans"/>
        </a:defRPr>
      </a:lvl1pPr>
    </p:bodyStyle>
    <p:otherStyle>
      <a:defPPr algn="l">
        <a:defRPr sz="1600">
          <a:latin typeface="DM Sans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8288000" cy="5943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731520" y="6675120"/>
            <a:ext cx="2926080" cy="292608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blob_tr"/>
          <p:cNvSpPr/>
          <p:nvPr/>
        </p:nvSpPr>
        <p:spPr>
          <a:xfrm>
            <a:off x="15087600" y="914400"/>
            <a:ext cx="2560320" cy="256032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3" name="nx_title"/>
          <p:cNvSpPr txBox="1"/>
          <p:nvPr/>
        </p:nvSpPr>
        <p:spPr>
          <a:xfrm>
            <a:off x="1371600" y="3108960"/>
            <a:ext cx="1554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6000" b="1" dirty="0">
                <a:solidFill>
                  <a:srgbClr val="1F1F2C"/>
                </a:solidFill>
                <a:latin typeface="Montserrat"/>
                <a:cs typeface="Montserrat"/>
              </a:rPr>
              <a:t>Primo Soccorso — Gruppi B e C</a:t>
            </a:r>
          </a:p>
        </p:txBody>
      </p:sp>
      <p:sp>
        <p:nvSpPr>
          <p:cNvPr id="104" name="nx_subtitle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dirty="0">
                <a:solidFill>
                  <a:srgbClr val="6B7280"/>
                </a:solidFill>
                <a:latin typeface="DM Sans"/>
                <a:cs typeface="DM Sans"/>
              </a:rPr>
              <a:t>Formazione 8 ore — D.Lgs 81/08 art. 45 + DM 388/2003</a:t>
            </a:r>
          </a:p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680960"/>
            <a:ext cx="2743200" cy="731520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8595360" y="873252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7" name="nx_dot2"/>
          <p:cNvSpPr/>
          <p:nvPr/>
        </p:nvSpPr>
        <p:spPr>
          <a:xfrm>
            <a:off x="8997696" y="873252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8" name="nx_dot3"/>
          <p:cNvSpPr/>
          <p:nvPr/>
        </p:nvSpPr>
        <p:spPr>
          <a:xfrm>
            <a:off x="9400032" y="873252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Obblighi del Datore di Lavoro</a:t>
            </a:r>
          </a:p>
        </p:txBody>
      </p:sp>
      <p:sp>
        <p:nvSpPr>
          <p:cNvPr id="2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body"/>
          <p:cNvSpPr txBox="1"/>
          <p:nvPr/>
        </p:nvSpPr>
        <p:spPr>
          <a:xfrm>
            <a:off x="640080" y="2103120"/>
            <a:ext cx="17007840" cy="7223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Designare un numero adeguato di lavoratori incaricati di primo soccorso, prevenzione incendi ed evacuazione.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Fornire formazione DM 388/2003 a tutti gli addetti, con aggiornamento triennale obbligatorio.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Dotare l’azienda di cassetta primo soccorso conforme (Allegato 1 DM 388) o pacchetto medicazione.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Garantire l’efficienza della chiamata di emergenza 112 NUE in ogni postazione di lavoro.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Verificare periodicamente la presenza e l’integrità dei presidi sanitari obbligatori.</a:t>
            </a:r>
          </a:p>
        </p:txBody>
      </p:sp>
      <p:sp>
        <p:nvSpPr>
          <p:cNvPr id="2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45 D.Lgs 81/08 — DM 388/2003</a:t>
            </a:r>
          </a:p>
        </p:txBody>
      </p:sp>
      <p:sp>
        <p:nvSpPr>
          <p:cNvPr id="2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2 / 8</a:t>
            </a:r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Dispositivi di Protezione Individuale</a:t>
            </a:r>
          </a:p>
        </p:txBody>
      </p:sp>
      <p:sp>
        <p:nvSpPr>
          <p:cNvPr id="3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3" name="nx_body"/>
          <p:cNvSpPr txBox="1"/>
          <p:nvPr/>
        </p:nvSpPr>
        <p:spPr>
          <a:xfrm>
            <a:off x="640080" y="2103120"/>
            <a:ext cx="941832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DPI sono l’ultima barriera difensiva quando i rischi non possono essere eliminati alla fonte.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Devono essere marcati CE, idonei alla mansione e mantenuti in efficienza.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lavoratore deve utilizzarli secondo le istruzioni e segnalarne difetti o usura.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Categoria III: DPI per rischi gravi o mortali — formazione e addestramento obbligatori.</a:t>
            </a:r>
          </a:p>
        </p:txBody>
      </p:sp>
      <p:sp>
        <p:nvSpPr>
          <p:cNvPr id="304" name="nx_image_box"/>
          <p:cNvSpPr/>
          <p:nvPr/>
        </p:nvSpPr>
        <p:spPr>
          <a:xfrm>
            <a:off x="10424160" y="2103120"/>
            <a:ext cx="7223760" cy="5852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400" i="1" dirty="0">
                <a:solidFill>
                  <a:srgbClr val="6B7280"/>
                </a:solidFill>
                <a:latin typeface="DM Sans"/>
              </a:rPr>
              <a:t>[ AUTO_SHAPE — immagine inserita dinamicamente ]</a:t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10424160" y="80924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200" i="1" dirty="0">
                <a:solidFill>
                  <a:srgbClr val="6B7280"/>
                </a:solidFill>
                <a:latin typeface="DM Sans"/>
                <a:cs typeface="DM Sans"/>
              </a:rPr>
              <a:t>DPI obbligatori cat. III</a:t>
            </a:r>
          </a:p>
        </p:txBody>
      </p:sp>
      <p:sp>
        <p:nvSpPr>
          <p:cNvPr id="3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74-79 D.Lgs 81/08</a:t>
            </a:r>
          </a:p>
        </p:txBody>
      </p:sp>
      <p:sp>
        <p:nvSpPr>
          <p:cNvPr id="3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3 / 8</a:t>
            </a:r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Flusso della Valutazione dei Rischi</a:t>
            </a:r>
          </a:p>
        </p:txBody>
      </p:sp>
      <p:sp>
        <p:nvSpPr>
          <p:cNvPr id="4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3" name="nx_diagram_box"/>
          <p:cNvSpPr/>
          <p:nvPr/>
        </p:nvSpPr>
        <p:spPr>
          <a:xfrm>
            <a:off x="1371600" y="2103120"/>
            <a:ext cx="15544800" cy="6126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800" i="1" dirty="0">
                <a:solidFill>
                  <a:srgbClr val="6B7280"/>
                </a:solidFill>
                <a:latin typeface="DM Sans"/>
              </a:rPr>
              <a:t>[ AUTO_SHAPE — diagramma SVG inserito dinamicamente ]</a:t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1371600" y="836676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300" i="1" dirty="0">
                <a:solidFill>
                  <a:srgbClr val="6B7280"/>
                </a:solidFill>
                <a:latin typeface="DM Sans"/>
                <a:cs typeface="DM Sans"/>
              </a:rPr>
              <a:t>Figura 1 — Identificazione → valutazione → misure → monitoraggio (Art. 28-29 D.Lgs 81/08)</a:t>
            </a:r>
          </a:p>
        </p:txBody>
      </p:sp>
      <p:sp>
        <p:nvSpPr>
          <p:cNvPr id="4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28-29 D.Lgs 81/08</a:t>
            </a:r>
          </a:p>
        </p:txBody>
      </p:sp>
      <p:sp>
        <p:nvSpPr>
          <p:cNvPr id="4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4 / 8</a:t>
            </a:r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01" name="nx_question_box"/>
          <p:cNvSpPr/>
          <p:nvPr/>
        </p:nvSpPr>
        <p:spPr>
          <a:xfrm>
            <a:off x="640080" y="548640"/>
            <a:ext cx="17007840" cy="1417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2" name="nx_title"/>
          <p:cNvSpPr txBox="1"/>
          <p:nvPr/>
        </p:nvSpPr>
        <p:spPr>
          <a:xfrm>
            <a:off x="914400" y="548640"/>
            <a:ext cx="164592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2400" b="1" dirty="0">
                <a:solidFill>
                  <a:srgbClr val="1F1F2C"/>
                </a:solidFill>
                <a:latin typeface="Montserrat"/>
                <a:cs typeface="Montserrat"/>
              </a:rPr>
              <a:t>Chi nomina il Responsabile del Servizio di Prevenzione e Protezione?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2286000" y="233172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11" name="nx_letter_a"/>
          <p:cNvSpPr/>
          <p:nvPr/>
        </p:nvSpPr>
        <p:spPr>
          <a:xfrm>
            <a:off x="2651760" y="258318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12" name="nx_letter_text_a"/>
          <p:cNvSpPr txBox="1"/>
          <p:nvPr/>
        </p:nvSpPr>
        <p:spPr>
          <a:xfrm>
            <a:off x="2651760" y="25831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3657600" y="246888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Rappresentante dei Lavoratori per la Sicurezza (RLS).</a:t>
            </a:r>
          </a:p>
        </p:txBody>
      </p:sp>
      <p:sp>
        <p:nvSpPr>
          <p:cNvPr id="520" name="nx_option_card_b"/>
          <p:cNvSpPr/>
          <p:nvPr/>
        </p:nvSpPr>
        <p:spPr>
          <a:xfrm>
            <a:off x="2286000" y="374904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1" name="nx_letter_b"/>
          <p:cNvSpPr/>
          <p:nvPr/>
        </p:nvSpPr>
        <p:spPr>
          <a:xfrm>
            <a:off x="2651760" y="400050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22" name="nx_letter_text_b"/>
          <p:cNvSpPr txBox="1"/>
          <p:nvPr/>
        </p:nvSpPr>
        <p:spPr>
          <a:xfrm>
            <a:off x="2651760" y="40005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3657600" y="388620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Datore di Lavoro, eventualmente assumendone direttamente i compiti nei casi previsti.</a:t>
            </a:r>
          </a:p>
        </p:txBody>
      </p:sp>
      <p:sp>
        <p:nvSpPr>
          <p:cNvPr id="530" name="nx_option_card_c"/>
          <p:cNvSpPr/>
          <p:nvPr/>
        </p:nvSpPr>
        <p:spPr>
          <a:xfrm>
            <a:off x="2286000" y="516636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1" name="nx_letter_c"/>
          <p:cNvSpPr/>
          <p:nvPr/>
        </p:nvSpPr>
        <p:spPr>
          <a:xfrm>
            <a:off x="2651760" y="541782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32" name="nx_letter_text_c"/>
          <p:cNvSpPr txBox="1"/>
          <p:nvPr/>
        </p:nvSpPr>
        <p:spPr>
          <a:xfrm>
            <a:off x="265176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3657600" y="530352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L’Ispettorato Territoriale del Lavoro.</a:t>
            </a:r>
          </a:p>
        </p:txBody>
      </p:sp>
      <p:sp>
        <p:nvSpPr>
          <p:cNvPr id="540" name="nx_option_card_d"/>
          <p:cNvSpPr/>
          <p:nvPr/>
        </p:nvSpPr>
        <p:spPr>
          <a:xfrm>
            <a:off x="2286000" y="658368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1" name="nx_letter_d"/>
          <p:cNvSpPr/>
          <p:nvPr/>
        </p:nvSpPr>
        <p:spPr>
          <a:xfrm>
            <a:off x="2651760" y="683514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42" name="nx_letter_text_d"/>
          <p:cNvSpPr txBox="1"/>
          <p:nvPr/>
        </p:nvSpPr>
        <p:spPr>
          <a:xfrm>
            <a:off x="2651760" y="68351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3657600" y="672084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Medico Competente in accordo con il Consiglio di Amministrazione.</a:t>
            </a:r>
          </a:p>
        </p:txBody>
      </p:sp>
      <p:sp>
        <p:nvSpPr>
          <p:cNvPr id="550" name="nx_correct_bar"/>
          <p:cNvSpPr/>
          <p:nvPr/>
        </p:nvSpPr>
        <p:spPr>
          <a:xfrm>
            <a:off x="0" y="9006840"/>
            <a:ext cx="18288000" cy="12801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51" name="nx_correct_marker"/>
          <p:cNvSpPr txBox="1"/>
          <p:nvPr/>
        </p:nvSpPr>
        <p:spPr>
          <a:xfrm>
            <a:off x="640080" y="9006840"/>
            <a:ext cx="1700784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813816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01" name="nx_case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Infortunio in magazzino: caduta da scala portatile</a:t>
            </a:r>
          </a:p>
        </p:txBody>
      </p:sp>
      <p:sp>
        <p:nvSpPr>
          <p:cNvPr id="610" name="nx_case_bg_situazione"/>
          <p:cNvSpPr/>
          <p:nvPr/>
        </p:nvSpPr>
        <p:spPr>
          <a:xfrm>
            <a:off x="640080" y="214884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case_bar_situazione"/>
          <p:cNvSpPr/>
          <p:nvPr/>
        </p:nvSpPr>
        <p:spPr>
          <a:xfrm>
            <a:off x="640080" y="214884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case_label_situazione"/>
          <p:cNvSpPr txBox="1"/>
          <p:nvPr/>
        </p:nvSpPr>
        <p:spPr>
          <a:xfrm>
            <a:off x="1097280" y="233172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C82E6E"/>
                </a:solidFill>
                <a:latin typeface="Montserrat"/>
                <a:cs typeface="Montserrat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1097280" y="278892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Un magazziniere utilizza una scala doppia non vincolata per prelevare materiale a 3 metri. La scala scivola e l’operatore cade riportando una frattura al polso.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640080" y="438912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case_bar_azione"/>
          <p:cNvSpPr/>
          <p:nvPr/>
        </p:nvSpPr>
        <p:spPr>
          <a:xfrm>
            <a:off x="640080" y="438912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case_label_azione"/>
          <p:cNvSpPr txBox="1"/>
          <p:nvPr/>
        </p:nvSpPr>
        <p:spPr>
          <a:xfrm>
            <a:off x="1097280" y="457200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769E2E"/>
                </a:solidFill>
                <a:latin typeface="Montserrat"/>
                <a:cs typeface="Montserrat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1097280" y="502920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L’azienda aggiorna il DVR, sostituisce le scale portatili con trabattelli certificati EN 1004 e organizza formazione specifica sul lavoro in quota ex Art. 107.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640080" y="662940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case_bar_risultato"/>
          <p:cNvSpPr/>
          <p:nvPr/>
        </p:nvSpPr>
        <p:spPr>
          <a:xfrm>
            <a:off x="640080" y="662940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case_label_risultato"/>
          <p:cNvSpPr txBox="1"/>
          <p:nvPr/>
        </p:nvSpPr>
        <p:spPr>
          <a:xfrm>
            <a:off x="1097280" y="681228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1F1F2C"/>
                </a:solidFill>
                <a:latin typeface="Montserrat"/>
                <a:cs typeface="Montserrat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1097280" y="726948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Nessun infortunio analogo nei 24 mesi successivi. L’audit INAIL riconosce la corretta applicazione delle misure e riduce il premio (modello OT23).</a:t>
            </a:r>
          </a:p>
        </p:txBody>
      </p:sp>
      <p:sp>
        <p:nvSpPr>
          <p:cNvPr id="6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Titolo IV — Capo II, D.Lgs 81/08</a:t>
            </a:r>
          </a:p>
        </p:txBody>
      </p:sp>
      <p:sp>
        <p:nvSpPr>
          <p:cNvPr id="6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6 / 8</a:t>
            </a:r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1" name="nx_recap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Cosa hai imparato in questo modulo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640080" y="205740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0" name="nx_recap_check_710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recap_checkmark_710"/>
          <p:cNvSpPr txBox="1"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554480" y="260604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principi cardine del D.Lgs 81/08 e la gerarchia delle misure di prevenzione.</a:t>
            </a:r>
          </a:p>
        </p:txBody>
      </p:sp>
      <p:sp>
        <p:nvSpPr>
          <p:cNvPr id="720" name="nx_recap_check_720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recap_checkmark_720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554480" y="370332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ruoli di Datore di Lavoro, RSPP, RLS e Medico Competente.</a:t>
            </a:r>
          </a:p>
        </p:txBody>
      </p:sp>
      <p:sp>
        <p:nvSpPr>
          <p:cNvPr id="730" name="nx_recap_check_730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recap_checkmark_730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554480" y="480060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ciclo di Valutazione dei Rischi e la redazione del DVR.</a:t>
            </a:r>
          </a:p>
        </p:txBody>
      </p:sp>
      <p:sp>
        <p:nvSpPr>
          <p:cNvPr id="740" name="nx_recap_check_740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41" name="nx_recap_checkmark_740"/>
          <p:cNvSpPr txBox="1"/>
          <p:nvPr/>
        </p:nvSpPr>
        <p:spPr>
          <a:xfrm>
            <a:off x="822960" y="5943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554480" y="589788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L’uso corretto dei DPI e gli obblighi del lavoratore.</a:t>
            </a:r>
          </a:p>
        </p:txBody>
      </p:sp>
      <p:sp>
        <p:nvSpPr>
          <p:cNvPr id="750" name="nx_recap_check_750"/>
          <p:cNvSpPr/>
          <p:nvPr/>
        </p:nvSpPr>
        <p:spPr>
          <a:xfrm>
            <a:off x="822960" y="704088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51" name="nx_recap_checkmark_750"/>
          <p:cNvSpPr txBox="1"/>
          <p:nvPr/>
        </p:nvSpPr>
        <p:spPr>
          <a:xfrm>
            <a:off x="822960" y="7040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554480" y="699516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Le sanzioni previste e l’importanza della formazione continua.</a:t>
            </a:r>
          </a:p>
        </p:txBody>
      </p:sp>
      <p:sp>
        <p:nvSpPr>
          <p:cNvPr id="790" name="nx_module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4F6F1E"/>
                </a:solidFill>
                <a:latin typeface="DM Sans"/>
                <a:cs typeface="DM Sans"/>
              </a:rPr>
              <a:t>Modulo 1 — Formazione Generale</a:t>
            </a:r>
          </a:p>
        </p:txBody>
      </p:sp>
      <p:sp>
        <p:nvSpPr>
          <p:cNvPr id="7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7 / 8</a:t>
            </a:r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2" name="nx_blob"/>
          <p:cNvSpPr/>
          <p:nvPr/>
        </p:nvSpPr>
        <p:spPr>
          <a:xfrm>
            <a:off x="12801600" y="5943600"/>
            <a:ext cx="5029200" cy="411480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3" name="nx_blob_2"/>
          <p:cNvSpPr/>
          <p:nvPr/>
        </p:nvSpPr>
        <p:spPr>
          <a:xfrm>
            <a:off x="457200" y="6400800"/>
            <a:ext cx="3200400" cy="320040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4" name="nx_title"/>
          <p:cNvSpPr txBox="1"/>
          <p:nvPr/>
        </p:nvSpPr>
        <p:spPr>
          <a:xfrm>
            <a:off x="1371600" y="3200400"/>
            <a:ext cx="1554480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8400" b="1" dirty="0">
                <a:solidFill>
                  <a:srgbClr val="1F1F2C"/>
                </a:solidFill>
                <a:latin typeface="Montserrat"/>
                <a:cs typeface="Montserrat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035040"/>
            <a:ext cx="2743200" cy="731520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1371600" y="694944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i="1" dirty="0">
                <a:solidFill>
                  <a:srgbClr val="6B7280"/>
                </a:solidFill>
                <a:latin typeface="DM Sans"/>
                <a:cs typeface="DM Sans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8595360" y="795528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8" name="nx_dot2"/>
          <p:cNvSpPr/>
          <p:nvPr/>
        </p:nvSpPr>
        <p:spPr>
          <a:xfrm>
            <a:off x="8997696" y="795528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9" name="nx_dot3"/>
          <p:cNvSpPr/>
          <p:nvPr/>
        </p:nvSpPr>
        <p:spPr>
          <a:xfrm>
            <a:off x="9400032" y="795528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FP">
  <a:themeElements>
    <a:clrScheme name="CFP">
      <a:dk1>
        <a:srgbClr val="1F1F2C"/>
      </a:dk1>
      <a:lt1>
        <a:srgbClr val="FFFFFF"/>
      </a:lt1>
      <a:dk2>
        <a:srgbClr val="1A1A1A"/>
      </a:dk2>
      <a:lt2>
        <a:srgbClr val="F8F9FA"/>
      </a:lt2>
      <a:accent1>
        <a:srgbClr val="C82E6E"/>
      </a:accent1>
      <a:accent2>
        <a:srgbClr val="769E2E"/>
      </a:accent2>
      <a:accent3>
        <a:srgbClr val="A8255A"/>
      </a:accent3>
      <a:accent4>
        <a:srgbClr val="6B7280"/>
      </a:accent4>
      <a:accent5>
        <a:srgbClr val="E1F0FF"/>
      </a:accent5>
      <a:accent6>
        <a:srgbClr val="1F1F2C"/>
      </a:accent6>
      <a:hlink>
        <a:srgbClr val="C82E6E"/>
      </a:hlink>
      <a:folHlink>
        <a:srgbClr val="A8255A"/>
      </a:folHlink>
    </a:clrScheme>
    <a:fontScheme name="CFP">
      <a:majorFont>
        <a:latin typeface="Montserrat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  <a:miter lim="800000"/>
        </a:ln>
        <a:ln w="12700">
          <a:solidFill>
            <a:schemeClr val="phClr"/>
          </a:solidFill>
          <a:prstDash val="solid"/>
          <a:miter lim="800000"/>
        </a:ln>
        <a:ln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Personalizzato</PresentationFormat>
  <Paragraphs>60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DM Sans</vt:lpstr>
      <vt:lpstr>Montserrat</vt:lpstr>
      <vt:lpstr>CFP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CFP Montessori — Nexus Master v2</dc:title>
  <dc:creator>CFP Montessori</dc:creator>
  <cp:lastModifiedBy>alessio di lonardo</cp:lastModifiedBy>
  <cp:revision>3</cp:revision>
  <dcterms:created xsi:type="dcterms:W3CDTF">2026-05-25T00:00:00Z</dcterms:created>
  <dcterms:modified xsi:type="dcterms:W3CDTF">2026-05-25T20:25:37Z</dcterms:modified>
</cp:coreProperties>
</file>