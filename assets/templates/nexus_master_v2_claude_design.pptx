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8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6000" b="1" dirty="0">
                <a:solidFill>
                  <a:srgbClr val="1F1F2C"/>
                </a:solidFill>
                <a:latin typeface="Montserrat"/>
                <a:cs typeface="Montserrat"/>
              </a:rPr>
              <a:t>Titolo del Corso</a:t>
            </a:r>
          </a:p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dirty="0">
                <a:solidFill>
                  <a:srgbClr val="6B7280"/>
                </a:solidFill>
                <a:latin typeface="DM Sans"/>
                <a:cs typeface="DM Sans"/>
              </a:rPr>
              <a:t>Sottotitolo / Riferimento normativo</a:t>
            </a:r>
          </a:p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Titolo Slide</a:t>
            </a:r>
          </a:p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Primo punto.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Secondo punto.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Terzo punto.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Quarto punto.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Quinto punto.</a:t>
            </a:r>
          </a:p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Riferimento normativo</a:t>
            </a:r>
          </a:p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Titolo Slide con Immagine</a:t>
            </a:r>
          </a:p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Punto uno.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Punto due.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Punto tre.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Punto quattro.</a:t>
            </a:r>
          </a:p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200" i="1" dirty="0">
                <a:solidFill>
                  <a:srgbClr val="6B7280"/>
                </a:solidFill>
                <a:latin typeface="DM Sans"/>
                <a:cs typeface="DM Sans"/>
              </a:rPr>
              <a:t>Didascalia</a:t>
            </a:r>
          </a:p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Riferimento normativo</a:t>
            </a:r>
          </a:p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Titolo Diagramma</a:t>
            </a:r>
          </a:p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300" i="1" dirty="0">
                <a:solidFill>
                  <a:srgbClr val="6B7280"/>
                </a:solidFill>
                <a:latin typeface="DM Sans"/>
                <a:cs typeface="DM Sans"/>
              </a:rPr>
              <a:t>Figura — didascalia esplicativa</a:t>
            </a:r>
          </a:p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Riferimento normativo</a:t>
            </a:r>
          </a:p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QUI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Testo della domanda?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Opzione A</a:t>
            </a:r>
          </a:p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Opzione B</a:t>
            </a:r>
          </a:p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Opzione C</a:t>
            </a:r>
          </a:p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Opzione D</a:t>
            </a:r>
          </a:p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Risposta corretta: B</a:t>
            </a:r>
          </a:p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ASE STU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Titolo del Caso Studio</a:t>
            </a:r>
          </a:p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situazione.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azione.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risultato.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Riferimento normativo</a:t>
            </a:r>
          </a:p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REC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Primo obiettivo.</a:t>
            </a:r>
          </a:p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Secondo concetto.</a:t>
            </a:r>
          </a:p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Terzo elemento.</a:t>
            </a:r>
          </a:p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Quarto punto.</a:t>
            </a:r>
          </a:p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Quinto risultato.</a:t>
            </a:r>
          </a:p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4F6F1E"/>
                </a:solidFill>
                <a:latin typeface="DM Sans"/>
                <a:cs typeface="DM Sans"/>
              </a:rPr>
              <a:t>Modulo — Riferimento</a:t>
            </a:r>
          </a:p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>
        <a:defRPr sz="3400" b="1">
          <a:solidFill>
            <a:srgbClr val="1F1F2C"/>
          </a:solidFill>
          <a:latin typeface="Montserrat"/>
        </a:defRPr>
      </a:lvl1pPr>
    </p:titleStyle>
    <p:bodyStyle>
      <a:lvl1pPr algn="l">
        <a:defRPr sz="1800">
          <a:solidFill>
            <a:srgbClr val="1A1A1A"/>
          </a:solidFill>
          <a:latin typeface="DM Sans"/>
        </a:defRPr>
      </a:lvl1pPr>
    </p:bodyStyle>
    <p:otherStyle>
      <a:defPPr algn="l">
        <a:defRPr sz="1600">
          <a:latin typeface="DM Sans"/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6000" b="1" dirty="0">
                <a:solidFill>
                  <a:srgbClr val="1F1F2C"/>
                </a:solidFill>
                <a:latin typeface="Montserrat"/>
                <a:cs typeface="Montserrat"/>
              </a:rPr>
              <a:t>Primo Soccorso — Gruppi B e C</a:t>
            </a:r>
          </a:p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dirty="0">
                <a:solidFill>
                  <a:srgbClr val="6B7280"/>
                </a:solidFill>
                <a:latin typeface="DM Sans"/>
                <a:cs typeface="DM Sans"/>
              </a:rPr>
              <a:t>Formazione 8 ore — D.Lgs 81/08 art. 45 + DM 388/2003</a:t>
            </a:r>
          </a:p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Obblighi del Datore di Lavoro</a:t>
            </a:r>
          </a:p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Designare un numero adeguato di lavoratori incaricati di primo soccorso, prevenzione incendi ed evacuazione.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Fornire formazione DM 388/2003 a tutti gli addetti, con aggiornamento triennale obbligatorio.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Dotare l’azienda di cassetta primo soccorso conforme (Allegato 1 DM 388) o pacchetto medicazione.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Garantire l’efficienza della chiamata di emergenza 112 NUE in ogni postazione di lavoro.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Verificare periodicamente la presenza e l’integrità dei presidi sanitari obbligatori.</a:t>
            </a:r>
          </a:p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45 D.Lgs 81/08 — DM 388/2003</a:t>
            </a:r>
          </a:p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2 / 8</a:t>
            </a:r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Dispositivi di Protezione Individuale</a:t>
            </a:r>
          </a:p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DPI sono l’ultima barriera difensiva quando i rischi non possono essere eliminati alla fonte.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Devono essere marcati CE, idonei alla mansione e mantenuti in efficienza.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lavoratore deve utilizzarli secondo le istruzioni e segnalarne difetti o usura.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Categoria III: DPI per rischi gravi o mortali — formazione e addestramento obbligatori.</a:t>
            </a:r>
          </a:p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200" i="1" dirty="0">
                <a:solidFill>
                  <a:srgbClr val="6B7280"/>
                </a:solidFill>
                <a:latin typeface="DM Sans"/>
                <a:cs typeface="DM Sans"/>
              </a:rPr>
              <a:t>DPI obbligatori cat. III</a:t>
            </a:r>
          </a:p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74-79 D.Lgs 81/08</a:t>
            </a:r>
          </a:p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3 / 8</a:t>
            </a:r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Flusso della Valutazione dei Rischi</a:t>
            </a:r>
          </a:p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300" i="1" dirty="0">
                <a:solidFill>
                  <a:srgbClr val="6B7280"/>
                </a:solidFill>
                <a:latin typeface="DM Sans"/>
                <a:cs typeface="DM Sans"/>
              </a:rPr>
              <a:t>Figura 1 — Identificazione → valutazione → misure → monitoraggio (Art. 28-29 D.Lgs 81/08)</a:t>
            </a:r>
          </a:p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28-29 D.Lgs 81/08</a:t>
            </a:r>
          </a:p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4 / 8</a:t>
            </a:r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Chi nomina il Responsabile del Servizio di Prevenzione e Protezione?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Rappresentante dei Lavoratori per la Sicurezza (RLS).</a:t>
            </a:r>
          </a:p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Datore di Lavoro, eventualmente assumendone direttamente i compiti nei casi previsti.</a:t>
            </a:r>
          </a:p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L’Ispettorato Territoriale del Lavoro.</a:t>
            </a:r>
          </a:p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Medico Competente in accordo con il Consiglio di Amministrazione.</a:t>
            </a:r>
          </a:p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Risposta corretta: B</a:t>
            </a:r>
          </a:p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Infortunio in magazzino: caduta da scala portatile</a:t>
            </a:r>
          </a:p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Un magazziniere utilizza una scala doppia non vincolata per prelevare materiale a 3 metri. La scala scivola e l’operatore cade riportando una frattura al polso.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L’azienda aggiorna il DVR, sostituisce le scale portatili con trabattelli certificati EN 1004 e organizza formazione specifica sul lavoro in quota ex Art. 107.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Nessun infortunio analogo nei 24 mesi successivi. L’audit INAIL riconosce la corretta applicazione delle misure e riduce il premio (modello OT23).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Titolo IV — Capo II, D.Lgs 81/08</a:t>
            </a:r>
          </a:p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6 / 8</a:t>
            </a:r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 in questo modulo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principi cardine del D.Lgs 81/08 e la gerarchia delle misure di prevenzione.</a:t>
            </a:r>
          </a:p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ruoli di Datore di Lavoro, RSPP, RLS e Medico Competente.</a:t>
            </a:r>
          </a:p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ciclo di Valutazione dei Rischi e la redazione del DVR.</a:t>
            </a:r>
          </a:p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L’uso corretto dei DPI e gli obblighi del lavoratore.</a:t>
            </a:r>
          </a:p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Le sanzioni previste e l’importanza della formazione continua.</a:t>
            </a:r>
          </a:p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4F6F1E"/>
                </a:solidFill>
                <a:latin typeface="DM Sans"/>
                <a:cs typeface="DM Sans"/>
              </a:rPr>
              <a:t>Modulo 1 — Formazione Generale</a:t>
            </a:r>
          </a:p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7 / 8</a:t>
            </a:r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FP">
  <a:themeElements>
    <a:clrScheme name="CFP">
      <a:dk1>
        <a:srgbClr val="1F1F2C"/>
      </a:dk1>
      <a:lt1>
        <a:srgbClr val="FFFFFF"/>
      </a:lt1>
      <a:dk2>
        <a:srgbClr val="1A1A1A"/>
      </a:dk2>
      <a:lt2>
        <a:srgbClr val="F8F9FA"/>
      </a:lt2>
      <a:accent1>
        <a:srgbClr val="C82E6E"/>
      </a:accent1>
      <a:accent2>
        <a:srgbClr val="769E2E"/>
      </a:accent2>
      <a:accent3>
        <a:srgbClr val="A8255A"/>
      </a:accent3>
      <a:accent4>
        <a:srgbClr val="6B7280"/>
      </a:accent4>
      <a:accent5>
        <a:srgbClr val="E1F0FF"/>
      </a:accent5>
      <a:accent6>
        <a:srgbClr val="1F1F2C"/>
      </a:accent6>
      <a:hlink>
        <a:srgbClr val="C82E6E"/>
      </a:hlink>
      <a:folHlink>
        <a:srgbClr val="A8255A"/>
      </a:folHlink>
    </a:clrScheme>
    <a:fontScheme name="CFP">
      <a:majorFont>
        <a:latin typeface="Montserrat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Personalizzato</PresentationFormat>
  <Paragraphs>60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DM Sans</vt:lpstr>
      <vt:lpstr>Montserrat</vt:lpstr>
      <vt:lpstr>CFP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CFP Montessori — Nexus Master v2</dc:title>
  <dc:creator>CFP Montessori</dc:creator>
  <cp:lastModifiedBy>alessio di lonardo</cp:lastModifiedBy>
  <cp:revision>3</cp:revision>
  <dcterms:created xsi:type="dcterms:W3CDTF">2026-05-25T00:00:00Z</dcterms:created>
  <dcterms:modified xsi:type="dcterms:W3CDTF">2026-05-25T20:25:37Z</dcterms:modified>
</cp:coreProperties>
</file>